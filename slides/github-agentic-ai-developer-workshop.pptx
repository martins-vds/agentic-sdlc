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and frame this as an engineering workshop. The goal is not maximum autonomy; it is bounded authority, observable work, and verifiable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outcomes and ask learners which area is most relevant to their current role. Emphasize that every outcome produces inspectable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timing and explain that Module 4 intentionally receives the largest block because it contains both deterministic fan-in and the 45-minute Project Pulse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exam weighting as ranges, not exact question counts. The workshop follows the same progression from architecture through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progression to show that governance is not an add-on. Every earlier technical choice creates the evidence and boundaries that governance later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shared vocabulary. Ask learners to avoid defining an agent by personality or chat interface; define it by its control loop and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recommendation with action. The risk change occurs when a system can call tools, mutate state, or continue without a fresh human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clockwise through the loop. Evaluation can terminate, retry, re-plan, or escalate. A completion message is not evidence; artifacts and checks are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 each GitHub primitive to a control function. The repository is not only where code lives; it is where intent, evidence, review, and enforcement converge.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contract fields before the JSON. The most dangerous omissions are usually forbidden actions, stop conditions, and escalation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vocabulary to architecture. The design goal is composability: one process should be able to continue another process's work without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why role boundaries reduce prompt complexity and make failures diagnosable. File ownership is also a concurrency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how request hash, schema version, and acceptance criteria prevent silent drift. The downstream implementer rejects unsupported or incomplete plans.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executable workflow code from the repository, not pseudocode. The plan job uploads plan.json; the implementation job downloads it and creates a real health report plus integrity manifest.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sha256sum during the lab. If the report changes after handoff, the recorded digest no longer matches and downstream validation can reject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controls are not cleanup after implementation. Design the PR path before granting write authority to an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distinction between connectivity and authority. MCP can describe and invoke a tool, but policy still decides whether the action is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from protocol inward to audit. A valid JSON-RPC request can still be denied by operation, path, or permission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allow case, then change operation to write_file. The same request envelope produces a nonzero process exit and a denied audit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Codespaces optimizes interactive learning and inspection. Actions optimizes repeatability and policy enforcement. Production agents often need both patterns with different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has two labs: deterministic fan-in and the faithful Project Pulse custom-agent exercise. Explain why orchestration is more than calling multiple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specialists are independent and may run concurrently. The merger cannot start until both artifacts exist. Validation is a separate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workflow replaces missing shell placeholders with real Python executors. Each matrix child uploads a named report; the fan-in job downloads both and validates the merged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learners which failures can retry automatically and which require escalation. Recovery depends on idempotent steps and durable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faithful in-repository adaptation of the Microsoft Learn and GitHub Skills exercise. Learners work in Copilot CLI and inspect every generated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Inspect the definitions under .github/agents before using them. Models are less important than explicit role, tools, file scope, and handoff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learners select Orchestrator with /agent. The Planner works first; design and implementation follow the approved file boundaries; validation failures return to the responsible specialist.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local validator performs static source and schema checks; it does not execute browser JavaScript. Runtime and visual inspection remain human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memory is a product and governance decision. More retained context is not automatically better; durable state should improve recovery and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Differentiate ephemeral reasoning context from durable, auditable state. Sensitive or stale context should not become long-term memory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state_store commands and inspect sequence, source, timestamp, and hash. A snapshot is useful only if its provenance is retained.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checks that code can prove from judgments that require a human. A model score must not replace schema checks, tests, or required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technical journey by combining authority, approval, evidence, and recovery. Governance should be encoded in GitHub controls, not left only in prompt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learners to classify one task at each level. Higher consequence means narrower permissions, stronger approval, and more complete recovery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sample request to show least privilege. The protected-branch request has the correct narrow permissions but no approval, so it becomes approval_required rather than executing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Learners submit artifacts, not a narrative claim. Grade bounded authority, reproducibility, observability, and explicit failure handling rather than model eloquence.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learners to connect every exam domain to a runnable artifact. The source-coverage document maps all 52 Microsoft Learn units to workshop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collecting examples of actions that require human approval. Reinforce that reliable agentic systems are designed for interruption, review, and recovery—not only successful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75520" y="-365760"/>
            <a:ext cx="2194560" cy="2194560"/>
          </a:xfrm>
          <a:prstGeom prst="ellipse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594360"/>
            <a:ext cx="1143000" cy="11430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06840" y="5257800"/>
            <a:ext cx="1828800" cy="1828800"/>
          </a:xfrm>
          <a:prstGeom prst="ellipse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394960"/>
            <a:ext cx="1554480" cy="155448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713232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200" b="1">
                <a:solidFill>
                  <a:srgbClr val="58A6FF"/>
                </a:solidFill>
                <a:latin typeface="Aptos"/>
              </a:defRPr>
            </a:pPr>
            <a:r>
              <a:t>GITHUB CERTIFIED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896112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4200" b="1">
                <a:solidFill>
                  <a:srgbClr val="F0F6FC"/>
                </a:solidFill>
                <a:latin typeface="Aptos Display"/>
              </a:defRPr>
            </a:pPr>
            <a:r>
              <a:t>Agentic AI</a:t>
            </a:r>
            <a:br/>
            <a:r>
              <a:t>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813816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200" b="0">
                <a:solidFill>
                  <a:srgbClr val="8B949E"/>
                </a:solidFill>
                <a:latin typeface="Aptos"/>
              </a:defRPr>
            </a:pPr>
            <a:r>
              <a:t>From prompts to a governed, observable agentic SDLC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00600"/>
            <a:ext cx="6675120" cy="82296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020056"/>
            <a:ext cx="6217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6 modules  |  2 runnable workflows  |  7 hands-on labs  |  1 capstone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80760"/>
            <a:ext cx="4114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Aptos"/>
              </a:defRPr>
            </a:pPr>
            <a:r>
              <a:t>Workshop companion for GH-600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WORKSHOP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What learners will be able to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Workshop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2763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73152" cy="17830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828800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BOUND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40487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Define goals, tools, state, policies, stop conditions, and escalation.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62763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627632"/>
            <a:ext cx="73152" cy="17830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1828800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40487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Exchange versioned artifacts between planning and implementation.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2763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627632"/>
            <a:ext cx="73152" cy="17830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828800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40487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Apply allowlists, least privilege, approvals, and protected paths.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77647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" y="3776472"/>
            <a:ext cx="73152" cy="17830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3977639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ORCHESTRATE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Coordinate specialists with concurrency, fan-in, and recovery.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377647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25696" y="3776472"/>
            <a:ext cx="73152" cy="17830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0016" y="3977639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455371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Persist state and enforce deterministic quality gates.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776472"/>
            <a:ext cx="34747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3776472"/>
            <a:ext cx="73152" cy="178308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977639"/>
            <a:ext cx="2971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OPERATE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553712"/>
            <a:ext cx="29718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Audit, observe, roll back, and improve agent workflows.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A 4 hour 40 minute learning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  <a:latin typeface="Aptos"/>
              </a:defRPr>
            </a:pPr>
            <a:r>
              <a:t>00:00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1554480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636776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Foundations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636776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31136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A371F7"/>
                </a:solidFill>
                <a:latin typeface="Aptos"/>
              </a:defRPr>
            </a:pPr>
            <a:r>
              <a:t>00:20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2212848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95144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295144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35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89504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D29922"/>
                </a:solidFill>
                <a:latin typeface="Aptos"/>
              </a:defRPr>
            </a:pPr>
            <a:r>
              <a:t>00:55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2871216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2953512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Tools +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53512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40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47872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3FB950"/>
                </a:solidFill>
                <a:latin typeface="Aptos"/>
              </a:defRPr>
            </a:pPr>
            <a:r>
              <a:t>01:35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0200" y="3529584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3611879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Orchestration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3611879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75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06240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58A6FF"/>
                </a:solidFill>
                <a:latin typeface="Aptos"/>
              </a:defRPr>
            </a:pPr>
            <a:r>
              <a:t>02:50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187952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4270248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Memory + evaluation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2702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40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64607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F85149"/>
                </a:solidFill>
                <a:latin typeface="Aptos"/>
              </a:defRPr>
            </a:pPr>
            <a:r>
              <a:t>03:30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00200" y="4846320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4928616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928616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40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522975"/>
            <a:ext cx="914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A371F7"/>
                </a:solidFill>
                <a:latin typeface="Aptos"/>
              </a:defRPr>
            </a:pPr>
            <a:r>
              <a:t>04:10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00200" y="5504688"/>
            <a:ext cx="8869680" cy="484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586983"/>
            <a:ext cx="5852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600" b="1">
                <a:solidFill>
                  <a:srgbClr val="F0F6FC"/>
                </a:solidFill>
                <a:latin typeface="Aptos"/>
              </a:defRPr>
            </a:pPr>
            <a:r>
              <a:t>Capstone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586983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400" b="1">
                <a:solidFill>
                  <a:srgbClr val="8B949E"/>
                </a:solidFill>
                <a:latin typeface="Aptos"/>
              </a:defRPr>
            </a:pPr>
            <a:r>
              <a:t>30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CERTIFICATION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GH-600 certification domains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Certification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00200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01368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Architecture + SDLC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1773936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58A6FF"/>
                </a:solidFill>
                <a:latin typeface="Aptos"/>
              </a:defRPr>
            </a:pPr>
            <a:r>
              <a:t>15–20%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" y="2359152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2" y="2359152"/>
            <a:ext cx="3657600" cy="10972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600200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1801368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Tools + environment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0152" y="1773936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A371F7"/>
                </a:solidFill>
                <a:latin typeface="Aptos"/>
              </a:defRPr>
            </a:pPr>
            <a:r>
              <a:t>20–25%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11112" y="2359152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11112" y="2359152"/>
            <a:ext cx="4572000" cy="10972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3127248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328416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Memory +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3300984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D29922"/>
                </a:solidFill>
                <a:latin typeface="Aptos"/>
              </a:defRPr>
            </a:pPr>
            <a:r>
              <a:t>10–15%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86200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86200"/>
            <a:ext cx="2743200" cy="10972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82512" y="3127248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1112" y="3328416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Evaluation + tuning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0152" y="3300984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3FB950"/>
                </a:solidFill>
                <a:latin typeface="Aptos"/>
              </a:defRPr>
            </a:pPr>
            <a:r>
              <a:t>15–20%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3886200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11112" y="3886200"/>
            <a:ext cx="3657600" cy="10972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3232" y="4654296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855464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Multi-agent coordination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828032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58A6FF"/>
                </a:solidFill>
                <a:latin typeface="Aptos"/>
              </a:defRPr>
            </a:pPr>
            <a:r>
              <a:t>15–20%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5413248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5413248"/>
            <a:ext cx="3657600" cy="10972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82512" y="4654296"/>
            <a:ext cx="5257800" cy="11704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11112" y="4855464"/>
            <a:ext cx="3566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0F6FC"/>
                </a:solidFill>
                <a:latin typeface="Aptos"/>
              </a:defRPr>
            </a:pPr>
            <a:r>
              <a:t>Guardrails + accountability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152" y="4828032"/>
            <a:ext cx="960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800" b="1">
                <a:solidFill>
                  <a:srgbClr val="F85149"/>
                </a:solidFill>
                <a:latin typeface="Aptos"/>
              </a:defRPr>
            </a:pPr>
            <a:r>
              <a:t>10–15%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11112" y="5413248"/>
            <a:ext cx="4572000" cy="109728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1112" y="5413248"/>
            <a:ext cx="2743200" cy="10972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The six-module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Learning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1</a:t>
            </a:r>
            <a:br/>
            <a:r>
              <a:t>Foundations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0696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2</a:t>
            </a:r>
            <a:br/>
            <a:r>
              <a:t>Architecture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64664" y="2564892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83024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6176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3</a:t>
            </a:r>
            <a:br/>
            <a:r>
              <a:t>Tools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6992" y="2564892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45351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3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4</a:t>
            </a:r>
            <a:br/>
            <a:r>
              <a:t>Orchestration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9320" y="2564892"/>
            <a:ext cx="219455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07680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0832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5</a:t>
            </a:r>
            <a:br/>
            <a:r>
              <a:t>Memory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851647" y="2564892"/>
            <a:ext cx="219457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970008" y="1993392"/>
            <a:ext cx="1569720" cy="11430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3160" y="2103120"/>
            <a:ext cx="1423416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6</a:t>
            </a:r>
            <a:br/>
            <a:r>
              <a:t>Governance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13976" y="2564892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3886200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Vocabulary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3886200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Contracts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886200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Authority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886200"/>
            <a:ext cx="14630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Coordination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886200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Continuity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886200"/>
            <a:ext cx="1554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400" b="1">
                <a:solidFill>
                  <a:srgbClr val="8B949E"/>
                </a:solidFill>
                <a:latin typeface="Aptos"/>
              </a:defRPr>
            </a:pPr>
            <a:r>
              <a:t>Accountability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97280" y="4892040"/>
            <a:ext cx="9966960" cy="71323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5093208"/>
            <a:ext cx="95097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F0F6FC"/>
                </a:solidFill>
                <a:latin typeface="Aptos"/>
              </a:defRPr>
            </a:pPr>
            <a:r>
              <a:t>Every module produces an artifact that the next module can inspect.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Foundations of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Move from one-shot assistance to bounded systems that plan, act, observe, evaluate, and escalate.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58A6FF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Assistant versus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5074920" cy="33832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37360"/>
            <a:ext cx="73152" cy="3383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4572000" cy="2423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Responds to a prompt</a:t>
            </a:r>
            <a:br/>
            <a:r>
              <a:t>Proposes content</a:t>
            </a:r>
            <a:br/>
            <a:r>
              <a:t>Human initiates each step</a:t>
            </a:r>
            <a:br/>
            <a:r>
              <a:t>Usually has limited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737360"/>
            <a:ext cx="5074920" cy="33832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737360"/>
            <a:ext cx="73152" cy="33832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14600"/>
            <a:ext cx="4572000" cy="2423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Pursues a goal</a:t>
            </a:r>
            <a:br/>
            <a:r>
              <a:t>Selects and calls tools</a:t>
            </a:r>
            <a:br/>
            <a:r>
              <a:t>Observes results</a:t>
            </a:r>
            <a:br/>
            <a:r>
              <a:t>Maintains state</a:t>
            </a:r>
            <a:br/>
            <a:r>
              <a:t>Stops or escalates by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623560"/>
            <a:ext cx="10058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000" b="1">
                <a:solidFill>
                  <a:srgbClr val="D29922"/>
                </a:solidFill>
                <a:latin typeface="Aptos"/>
              </a:defRPr>
            </a:pPr>
            <a:r>
              <a:t>Key question: what can this system do without another human decision?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The bounded agent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1905609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029968"/>
            <a:ext cx="1759305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GOAL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9737" y="1920240"/>
            <a:ext cx="1905609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2889" y="2029968"/>
            <a:ext cx="1759305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PLAN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73705" y="241401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7955" y="1920240"/>
            <a:ext cx="1905609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1107" y="2029968"/>
            <a:ext cx="1759305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ACT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71923" y="241401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26172" y="1920240"/>
            <a:ext cx="1905609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9324" y="2029968"/>
            <a:ext cx="1759305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OBSERVE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70140" y="241401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24390" y="1920240"/>
            <a:ext cx="1905609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7542" y="2029968"/>
            <a:ext cx="1759305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EVALUATE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68358" y="241401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926080" y="3794760"/>
            <a:ext cx="6309360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54680" y="4078224"/>
            <a:ext cx="5852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900" b="1">
                <a:solidFill>
                  <a:srgbClr val="F85149"/>
                </a:solidFill>
                <a:latin typeface="Aptos"/>
              </a:defRPr>
            </a:pPr>
            <a:r>
              <a:t>STOP / RETRY / RE-PLAN /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257800"/>
            <a:ext cx="99669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700" b="0">
                <a:solidFill>
                  <a:srgbClr val="8B949E"/>
                </a:solidFill>
                <a:latin typeface="Aptos"/>
              </a:defRPr>
            </a:pPr>
            <a:r>
              <a:t>Policy surrounds the loop: scope • permissions • timeout • evidence • human control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GitHub is the system of record and control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73152" cy="1645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048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Intent + acceptance criteria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6276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627632"/>
            <a:ext cx="73152" cy="16459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8288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4048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Isolated execution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16276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627632"/>
            <a:ext cx="73152" cy="1645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18288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PULL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4048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Reviewable change 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6850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685032"/>
            <a:ext cx="73152" cy="164592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8862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4622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Deterministic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6850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685032"/>
            <a:ext cx="73152" cy="1645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79" y="38862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ARTIFACT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44622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Durable handoff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02752" y="3685032"/>
            <a:ext cx="3511296" cy="16459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02752" y="3685032"/>
            <a:ext cx="73152" cy="164592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7072" y="3886200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RULESET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4462272"/>
            <a:ext cx="3008376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Enforced policy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Agent contract: make authority explicit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1 —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6537960" cy="452628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6172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AGENT-CONTRACT.JSON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11680"/>
            <a:ext cx="6172200" cy="399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"objective": "Generate a project health report",</a:t>
            </a:r>
            <a:br/>
            <a:r>
              <a:t>  "inputs": ["project metadata"],</a:t>
            </a:r>
            <a:br/>
            <a:r>
              <a:t>  "allowed_tools": ["repository.read", "artifact.write"],</a:t>
            </a:r>
            <a:br/>
            <a:r>
              <a:t>  "forbidden": ["push to protected branch", "read secrets"],</a:t>
            </a:r>
            <a:br/>
            <a:r>
              <a:t>  "success": ["valid JSON", "SHA-256 recorded"],</a:t>
            </a:r>
            <a:br/>
            <a:r>
              <a:t>  "timeout_minutes": 10,</a:t>
            </a:r>
            <a:br/>
            <a:r>
              <a:t>  "escalate_when": ["risk is high", "validation fails"]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600200"/>
            <a:ext cx="3840480" cy="192024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1600200"/>
            <a:ext cx="73152" cy="1920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801368"/>
            <a:ext cx="3337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LAB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3337560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Write a bounded contract, generate a plan artifact, and identify one field that would be unsafe to leave implicit.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822191"/>
            <a:ext cx="3840480" cy="1874519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3822191"/>
            <a:ext cx="73152" cy="1874519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4023359"/>
            <a:ext cx="3337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COMPLETION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599431"/>
            <a:ext cx="3337560" cy="9143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Point to objective, tools, stop condition, and escalation in an inspectable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A371F7"/>
                </a:solidFill>
                <a:latin typeface="Aptos"/>
              </a:defRPr>
            </a:pPr>
            <a: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Agent Architecture and SDLC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Separate responsibilities and connect them through versioned, validated handoff contracts.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A371F7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Single responsibility, explicit ownership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73152" cy="17830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1874519"/>
            <a:ext cx="502920" cy="502920"/>
          </a:xfrm>
          <a:prstGeom prst="ellipse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874519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847088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2316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Turns intent into ordered work</a:t>
            </a:r>
            <a:br/>
            <a:r>
              <a:t>Owns plan.json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4592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645920"/>
            <a:ext cx="73152" cy="17830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83680" y="1874519"/>
            <a:ext cx="502920" cy="50292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47088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IMPLEMENTER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42316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Creates requested payload</a:t>
            </a:r>
            <a:br/>
            <a:r>
              <a:t>Owns health-report.json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9476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94760"/>
            <a:ext cx="73152" cy="17830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995928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VALIDATOR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Checks contract + evidence</a:t>
            </a:r>
            <a:br/>
            <a:r>
              <a:t>Owns validation.json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79476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3794760"/>
            <a:ext cx="73152" cy="17830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0" y="4023360"/>
            <a:ext cx="502920" cy="50292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02336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3995928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HUMAN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57200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Approves consequential changes</a:t>
            </a:r>
            <a:br/>
            <a:r>
              <a:t>Owns the decision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A versioned plan is an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7040880" cy="470916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64207"/>
            <a:ext cx="6675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PLAN.JSON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65960"/>
            <a:ext cx="6675120" cy="4178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5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"schema_version": "1.0",</a:t>
            </a:r>
            <a:br/>
            <a:r>
              <a:t>  "request_id": "demo-plan-001",</a:t>
            </a:r>
            <a:br/>
            <a:r>
              <a:t>  "request_hash": "16c8…d421",</a:t>
            </a:r>
            <a:br/>
            <a:r>
              <a:t>  "project_metadata": {</a:t>
            </a:r>
            <a:br/>
            <a:r>
              <a:t>    "name": "agentic-sdlc-demo",</a:t>
            </a:r>
            <a:br/>
            <a:r>
              <a:t>    "status": "healthy",</a:t>
            </a:r>
            <a:br/>
            <a:r>
              <a:t>    "owner": "platform-engineering"</a:t>
            </a:r>
            <a:br/>
            <a:r>
              <a:t>  },</a:t>
            </a:r>
            <a:br/>
            <a:r>
              <a:t>  "acceptance_criteria": [</a:t>
            </a:r>
            <a:br/>
            <a:r>
              <a:t>    "The report contains project name and status",</a:t>
            </a:r>
            <a:br/>
            <a:r>
              <a:t>    "The report is valid JSON"</a:t>
            </a:r>
            <a:br/>
            <a:r>
              <a:t>  ],</a:t>
            </a:r>
            <a:br/>
            <a:r>
              <a:t>  "handoff": {</a:t>
            </a:r>
            <a:br/>
            <a:r>
              <a:t>    "producer": "deterministic-planner",</a:t>
            </a:r>
            <a:br/>
            <a:r>
              <a:t>    "consumer": "deterministic-implementer"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1737360"/>
            <a:ext cx="3474720" cy="4206240"/>
          </a:xfrm>
          <a:prstGeom prst="rect">
            <a:avLst/>
          </a:prstGeom>
          <a:noFill/>
        </p:spPr>
        <p:txBody>
          <a:bodyPr wrap="square" lIns="109728" rIns="54864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Stable schema version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Canonical request hash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Explicit producer + consumer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Acceptance criteria travel with work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Risk determines human approval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Concrete plan → implement handoff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17904"/>
            <a:ext cx="7635240" cy="484632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27631"/>
            <a:ext cx="7269479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.GITHUB/WORKFLOWS/PLAN-IMPLEMENT.YML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29384"/>
            <a:ext cx="7269479" cy="431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40" b="0">
                <a:solidFill>
                  <a:srgbClr val="F0F6FC"/>
                </a:solidFill>
                <a:latin typeface="Aptos Mono"/>
              </a:defRPr>
            </a:pPr>
            <a:r>
              <a:t>jobs:</a:t>
            </a:r>
            <a:br/>
            <a:r>
              <a:t>  plan:</a:t>
            </a:r>
            <a:br/>
            <a:r>
              <a:t>    runs-on: ubuntu-latest</a:t>
            </a:r>
            <a:br/>
            <a:r>
              <a:t>    steps:</a:t>
            </a:r>
            <a:br/>
            <a:r>
              <a:t>      - uses: actions/checkout@v4</a:t>
            </a:r>
            <a:br/>
            <a:r>
              <a:t>      - run: |</a:t>
            </a:r>
            <a:br/>
            <a:r>
              <a:t>          python3 scripts/plan/generate_plan.py \</a:t>
            </a:r>
            <a:br/>
            <a:r>
              <a:t>            --request examples/plan_request.json \</a:t>
            </a:r>
            <a:br/>
            <a:r>
              <a:t>            --output artifacts/plan/plan.json</a:t>
            </a:r>
            <a:br/>
            <a:r>
              <a:t>      - uses: actions/upload-artifact@v4</a:t>
            </a:r>
            <a:br/>
            <a:r>
              <a:t>        with:</a:t>
            </a:r>
            <a:br/>
            <a:r>
              <a:t>          name: agent-plan</a:t>
            </a:r>
            <a:br/>
            <a:r>
              <a:t>          path: artifacts/plan/plan.json</a:t>
            </a:r>
            <a:br/>
            <a:br/>
            <a:r>
              <a:t>  implement:</a:t>
            </a:r>
            <a:br/>
            <a:r>
              <a:t>    needs: plan</a:t>
            </a:r>
            <a:br/>
            <a:r>
              <a:t>    runs-on: ubuntu-latest</a:t>
            </a:r>
            <a:br/>
            <a:r>
              <a:t>    steps:</a:t>
            </a:r>
            <a:br/>
            <a:r>
              <a:t>      - uses: actions/download-artifact@v4</a:t>
            </a:r>
            <a:br/>
            <a:r>
              <a:t>        with:</a:t>
            </a:r>
            <a:br/>
            <a:r>
              <a:t>          name: agent-plan</a:t>
            </a:r>
            <a:br/>
            <a:r>
              <a:t>          path: artifacts/plan</a:t>
            </a:r>
            <a:br/>
            <a:r>
              <a:t>      - run: |</a:t>
            </a:r>
            <a:br/>
            <a:r>
              <a:t>          python3 scripts/implement/apply_plan.py \</a:t>
            </a:r>
            <a:br/>
            <a:r>
              <a:t>            --plan artifacts/plan/plan.json \</a:t>
            </a:r>
            <a:br/>
            <a:r>
              <a:t>            --output artifacts/implementation/implementation.json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3648" y="1600200"/>
            <a:ext cx="2926080" cy="2011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600200"/>
            <a:ext cx="73152" cy="20116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87968" y="1801368"/>
            <a:ext cx="24231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NOT A PLACEHOLDER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377440"/>
            <a:ext cx="242316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The consumer writes health-report.json and records its SHA-256 digest and byte size.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13648" y="3858768"/>
            <a:ext cx="2926080" cy="1828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13648" y="3858768"/>
            <a:ext cx="73152" cy="182880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4059935"/>
            <a:ext cx="24231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8" y="4636007"/>
            <a:ext cx="242316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Jobs exchange immutable artifacts instead of hidden process memory.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Evidence: payload + integrity manifest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2489454" cy="105156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38528"/>
            <a:ext cx="234315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request.json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862" y="1828800"/>
            <a:ext cx="2489454" cy="105156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1014" y="1938528"/>
            <a:ext cx="234315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plan.json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11830" y="235458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49924" y="1828800"/>
            <a:ext cx="2489454" cy="105156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3076" y="1938528"/>
            <a:ext cx="234315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health-report.json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93892" y="235458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31986" y="1828800"/>
            <a:ext cx="2489454" cy="105156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5138" y="1938528"/>
            <a:ext cx="234315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implementation.json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75954" y="235458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4400" y="3657600"/>
            <a:ext cx="4937760" cy="201168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67328"/>
            <a:ext cx="4572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IMPLEMENTATION.JSON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069080"/>
            <a:ext cx="45720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0">
                <a:solidFill>
                  <a:srgbClr val="F0F6FC"/>
                </a:solidFill>
                <a:latin typeface="Aptos Mono"/>
              </a:defRPr>
            </a:pPr>
            <a:r>
              <a:t>"generated_files": [</a:t>
            </a:r>
            <a:br/>
            <a:r>
              <a:t>  {</a:t>
            </a:r>
            <a:br/>
            <a:r>
              <a:t>    "path": "health-report.json",</a:t>
            </a:r>
            <a:br/>
            <a:r>
              <a:t>    "sha256": "cc7e6b…ec7c",</a:t>
            </a:r>
            <a:br/>
            <a:r>
              <a:t>    "bytes": 742</a:t>
            </a:r>
            <a:br/>
            <a:r>
              <a:t>  }</a:t>
            </a:r>
            <a:br/>
            <a:r>
              <a:t>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11880"/>
            <a:ext cx="4572000" cy="2194560"/>
          </a:xfrm>
          <a:prstGeom prst="rect">
            <a:avLst/>
          </a:prstGeom>
          <a:noFill/>
        </p:spPr>
        <p:txBody>
          <a:bodyPr wrap="square" lIns="109728" rIns="54864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Artifact exists</a:t>
            </a:r>
          </a:p>
          <a:p>
            <a:pPr>
              <a:spcAft>
                <a:spcPts val="10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JSON parses</a:t>
            </a:r>
          </a:p>
          <a:p>
            <a:pPr>
              <a:spcAft>
                <a:spcPts val="10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Required fields are present</a:t>
            </a:r>
          </a:p>
          <a:p>
            <a:pPr>
              <a:spcAft>
                <a:spcPts val="10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Digest matches exact bytes</a:t>
            </a:r>
          </a:p>
          <a:p>
            <a:pPr>
              <a:spcAft>
                <a:spcPts val="10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Protected paths remain untouched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Pull-request governance belongs in the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2 —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47088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23160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Required context and test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6459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645920"/>
            <a:ext cx="73152" cy="162763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847088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423160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Objective machine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16459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1645920"/>
            <a:ext cx="73152" cy="1627632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2" y="1847088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CODEOWNERS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423160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Domain-specific human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033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703320"/>
            <a:ext cx="73152" cy="1627632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3904487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RULESET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480559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No bypass of protected branch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7033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703320"/>
            <a:ext cx="73152" cy="1627632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79" y="3904487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ENVIRONMENT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79" y="4480559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Approval before deployment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02752" y="3703320"/>
            <a:ext cx="3511296" cy="1627632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02752" y="3703320"/>
            <a:ext cx="73152" cy="16276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7072" y="3904487"/>
            <a:ext cx="30083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ROLLBACK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4480559"/>
            <a:ext cx="3008376" cy="667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Known recovery reference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D29922"/>
                </a:solidFill>
                <a:latin typeface="Aptos"/>
              </a:defRPr>
            </a:pPr>
            <a: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Tooling, MCP, and Execution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Expose narrow capabilities through explicit protocol, authorization, and runtime boundaries.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D29922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A tool boundary has four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2423160" cy="2331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828800"/>
            <a:ext cx="73152" cy="2331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057400"/>
            <a:ext cx="502920" cy="50292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05740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029968"/>
            <a:ext cx="1325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06040"/>
            <a:ext cx="1920239" cy="13715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Shape, identity, arguments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5887" y="1828800"/>
            <a:ext cx="2423160" cy="2331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75887" y="1828800"/>
            <a:ext cx="73152" cy="23317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04487" y="2057400"/>
            <a:ext cx="502920" cy="502920"/>
          </a:xfrm>
          <a:prstGeom prst="ellipse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05740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029968"/>
            <a:ext cx="1325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CAPABILITY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7" y="2606040"/>
            <a:ext cx="1920239" cy="13715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Named tool + operation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37376" y="1828800"/>
            <a:ext cx="2423160" cy="2331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37376" y="1828800"/>
            <a:ext cx="73152" cy="233172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65976" y="2057400"/>
            <a:ext cx="502920" cy="50292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205740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6" y="2029968"/>
            <a:ext cx="1325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AUTHORIZATION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2606040"/>
            <a:ext cx="1920239" cy="13715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Allowlists + path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98864" y="1828800"/>
            <a:ext cx="2423160" cy="2331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98864" y="1828800"/>
            <a:ext cx="73152" cy="2331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27464" y="2057400"/>
            <a:ext cx="502920" cy="502920"/>
          </a:xfrm>
          <a:prstGeom prst="ellipse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27464" y="205740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67544" y="2029968"/>
            <a:ext cx="1325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2606040"/>
            <a:ext cx="1920239" cy="13715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Decision + reason + provenance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983480"/>
            <a:ext cx="996696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2400" b="1">
                <a:solidFill>
                  <a:srgbClr val="F85149"/>
                </a:solidFill>
                <a:latin typeface="Aptos"/>
              </a:defRPr>
            </a:pPr>
            <a:r>
              <a:t>Protocol compatibility ≠ permission to 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Concrete MCP-style request and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9240" cy="438912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82495"/>
            <a:ext cx="4983479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REQUEST.JSON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84248"/>
            <a:ext cx="4983479" cy="3858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"jsonrpc": "2.0",</a:t>
            </a:r>
            <a:br/>
            <a:r>
              <a:t>  "id": "mcp-demo-001",</a:t>
            </a:r>
            <a:br/>
            <a:r>
              <a:t>  "tool": "repository.read",</a:t>
            </a:r>
            <a:br/>
            <a:r>
              <a:t>  "operation": "read_file",</a:t>
            </a:r>
            <a:br/>
            <a:r>
              <a:t>  "path": "examples/project_spec.json",</a:t>
            </a:r>
            <a:br/>
            <a:r>
              <a:t>  "arguments": {"encoding": "utf-8"}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572768"/>
            <a:ext cx="5230368" cy="438912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682495"/>
            <a:ext cx="4864607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DENIED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984248"/>
            <a:ext cx="4864607" cy="3858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"decision": "deny",</a:t>
            </a:r>
            <a:br/>
            <a:r>
              <a:t>  "reason": "operation is not allowed",</a:t>
            </a:r>
            <a:br/>
            <a:r>
              <a:t>  "tool": "repository.read",</a:t>
            </a:r>
            <a:br/>
            <a:r>
              <a:t>  "operation": "write_file",</a:t>
            </a:r>
            <a:br/>
            <a:r>
              <a:t>  "path": "examples/project_spec.json"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Choose the execution environment deliberately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3 — Tools +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37360"/>
            <a:ext cx="5074920" cy="3337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37360"/>
            <a:ext cx="73152" cy="33375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CODESPACES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14600"/>
            <a:ext cx="4572000" cy="23774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Interactive</a:t>
            </a:r>
            <a:br/>
            <a:r>
              <a:t>Human present</a:t>
            </a:r>
            <a:br/>
            <a:r>
              <a:t>Rich repository context</a:t>
            </a:r>
            <a:br/>
            <a:r>
              <a:t>Good for exploration</a:t>
            </a:r>
            <a:br/>
            <a:r>
              <a:t>Use scoped CLI permissions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737360"/>
            <a:ext cx="5074920" cy="33375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333756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GITHUB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514600"/>
            <a:ext cx="4572000" cy="23774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Repeatable</a:t>
            </a:r>
            <a:br/>
            <a:r>
              <a:t>Event-driven</a:t>
            </a:r>
            <a:br/>
            <a:r>
              <a:t>Explicit token permissions</a:t>
            </a:r>
            <a:br/>
            <a:r>
              <a:t>Artifacts + logs</a:t>
            </a:r>
            <a:br/>
            <a:r>
              <a:t>Environment approval gates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10241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D29922"/>
                </a:solidFill>
                <a:latin typeface="Aptos"/>
              </a:defRPr>
            </a:pPr>
            <a:r>
              <a:t>Network, secrets, write scope, timeout, and retention must be explicit in both.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Aptos"/>
              </a:defRPr>
            </a:pPr>
            <a:r>
              <a:t>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Multi-Agent Systems and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Coordinate specialist agents through isolated work, observable artifacts, fan-in, and safe recovery.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3FB950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Deterministic multi-agent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2057400" cy="9144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14600"/>
            <a:ext cx="1691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700" b="1">
                <a:solidFill>
                  <a:srgbClr val="F0F6FC"/>
                </a:solidFill>
                <a:latin typeface="Aptos"/>
              </a:defRPr>
            </a:pPr>
            <a:r>
              <a:t>ORCHESTRATOR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63040"/>
            <a:ext cx="2331720" cy="9144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737360"/>
            <a:ext cx="19659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SPEC ANALYZER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246120"/>
            <a:ext cx="2331720" cy="9144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520440"/>
            <a:ext cx="19659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RISK REVIEWER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240280"/>
            <a:ext cx="2011680" cy="9144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2514600"/>
            <a:ext cx="16459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PLAN MERGER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2240280"/>
            <a:ext cx="1737360" cy="91440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02368" y="2514600"/>
            <a:ext cx="1417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VALIDATOR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834640" y="1920240"/>
            <a:ext cx="822960" cy="777240"/>
          </a:xfrm>
          <a:prstGeom prst="line">
            <a:avLst/>
          </a:prstGeom>
          <a:ln w="2540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34640" y="2697480"/>
            <a:ext cx="822960" cy="1005840"/>
          </a:xfrm>
          <a:prstGeom prst="line">
            <a:avLst/>
          </a:prstGeom>
          <a:ln w="2540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89320" y="1920240"/>
            <a:ext cx="822960" cy="777240"/>
          </a:xfrm>
          <a:prstGeom prst="line">
            <a:avLst/>
          </a:prstGeom>
          <a:ln w="2540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989320" y="2697480"/>
            <a:ext cx="822960" cy="1005840"/>
          </a:xfrm>
          <a:prstGeom prst="line">
            <a:avLst/>
          </a:prstGeom>
          <a:ln w="2540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23960" y="2697480"/>
            <a:ext cx="822960" cy="0"/>
          </a:xfrm>
          <a:prstGeom prst="line">
            <a:avLst/>
          </a:prstGeom>
          <a:ln w="2540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9392" y="4617720"/>
            <a:ext cx="10972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300" b="1">
                <a:solidFill>
                  <a:srgbClr val="A371F7"/>
                </a:solidFill>
                <a:latin typeface="Aptos"/>
              </a:defRPr>
            </a:pPr>
            <a:r>
              <a:t>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0332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300" b="1">
                <a:solidFill>
                  <a:srgbClr val="3FB950"/>
                </a:solidFill>
                <a:latin typeface="Aptos"/>
              </a:defRPr>
            </a:pPr>
            <a:r>
              <a:t>fan-in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703320"/>
            <a:ext cx="15087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300" b="1">
                <a:solidFill>
                  <a:srgbClr val="F85149"/>
                </a:solidFill>
                <a:latin typeface="Aptos"/>
              </a:defRPr>
            </a:pPr>
            <a:r>
              <a:t>quality gate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Concrete parallel specialists and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17904"/>
            <a:ext cx="7955279" cy="4873752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27631"/>
            <a:ext cx="7589519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.GITHUB/WORKFLOWS/MULTI-AGENT.YML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29384"/>
            <a:ext cx="7589519" cy="434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F0F6FC"/>
                </a:solidFill>
                <a:latin typeface="Aptos Mono"/>
              </a:defRPr>
            </a:pPr>
            <a:r>
              <a:t>jobs:</a:t>
            </a:r>
            <a:br/>
            <a:r>
              <a:t>  specialists:</a:t>
            </a:r>
            <a:br/>
            <a:r>
              <a:t>    strategy:</a:t>
            </a:r>
            <a:br/>
            <a:r>
              <a:t>      fail-fast: false</a:t>
            </a:r>
            <a:br/>
            <a:r>
              <a:t>      matrix:</a:t>
            </a:r>
            <a:br/>
            <a:r>
              <a:t>        role: [spec-analyzer, risk-reviewer]</a:t>
            </a:r>
            <a:br/>
            <a:r>
              <a:t>    steps:</a:t>
            </a:r>
            <a:br/>
            <a:r>
              <a:t>      - uses: actions/checkout@v4</a:t>
            </a:r>
            <a:br/>
            <a:r>
              <a:t>      - name: Run specialist</a:t>
            </a:r>
            <a:br/>
            <a:r>
              <a:t>        run: |</a:t>
            </a:r>
            <a:br/>
            <a:r>
              <a:t>          if [ "${{ matrix.role }}" = "spec-analyzer" ]; then</a:t>
            </a:r>
            <a:br/>
            <a:r>
              <a:t>            python3 scripts/multi_agent/spec_analyzer.py \</a:t>
            </a:r>
            <a:br/>
            <a:r>
              <a:t>              --spec examples/project_spec.json \</a:t>
            </a:r>
            <a:br/>
            <a:r>
              <a:t>              --output artifacts/${{ matrix.role }}/report.json</a:t>
            </a:r>
            <a:br/>
            <a:r>
              <a:t>          else</a:t>
            </a:r>
            <a:br/>
            <a:r>
              <a:t>            python3 scripts/multi_agent/risk_reviewer.py \</a:t>
            </a:r>
            <a:br/>
            <a:r>
              <a:t>              --spec examples/project_spec.json \</a:t>
            </a:r>
            <a:br/>
            <a:r>
              <a:t>              --output artifacts/${{ matrix.role }}/report.json</a:t>
            </a:r>
            <a:br/>
            <a:r>
              <a:t>          fi</a:t>
            </a:r>
            <a:br/>
            <a:br/>
            <a:r>
              <a:t>  fan-in:</a:t>
            </a:r>
            <a:br/>
            <a:r>
              <a:t>    needs: specialists</a:t>
            </a:r>
            <a:br/>
            <a:r>
              <a:t>    concurrency:</a:t>
            </a:r>
            <a:br/>
            <a:r>
              <a:t>      group: multiagent-${{ github.ref }}</a:t>
            </a:r>
            <a:br/>
            <a:r>
              <a:t>    steps:</a:t>
            </a:r>
            <a:br/>
            <a:r>
              <a:t>      - run: python3 scripts/multi_agent/plan_merger.py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97112" y="1600200"/>
            <a:ext cx="2606040" cy="1325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97112" y="1600200"/>
            <a:ext cx="73152" cy="13258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1031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2377440"/>
            <a:ext cx="2103120" cy="3657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Separate artifact directory per specialist.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3154680"/>
            <a:ext cx="2606040" cy="1325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97112" y="3154680"/>
            <a:ext cx="73152" cy="13258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3355848"/>
            <a:ext cx="21031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3931920"/>
            <a:ext cx="2103120" cy="3657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fail-fast: false preserves independent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97112" y="4709160"/>
            <a:ext cx="2606040" cy="1325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97112" y="4709160"/>
            <a:ext cx="73152" cy="13258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1432" y="4910328"/>
            <a:ext cx="21031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SERIALIZATION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5486400"/>
            <a:ext cx="2103120" cy="3657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One branch-scoped merge job at a time.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Failures are orchestration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73152" cy="1783080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4708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SPECIALIST FAILS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Preserve other output</a:t>
            </a:r>
            <a:br/>
            <a:r>
              <a:t>Retry bounded times</a:t>
            </a:r>
            <a:br/>
            <a:r>
              <a:t>Escalate with 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4592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645920"/>
            <a:ext cx="73152" cy="17830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84708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OUTPUT IS STALE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42316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Record input hash</a:t>
            </a:r>
            <a:br/>
            <a:r>
              <a:t>Reject mismatched provenance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9476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794760"/>
            <a:ext cx="73152" cy="17830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959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AGENTS DISAGREE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7200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Use deterministic arbitration</a:t>
            </a:r>
            <a:br/>
            <a:r>
              <a:t>Route unresolved conflict to 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794760"/>
            <a:ext cx="5074920" cy="17830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794760"/>
            <a:ext cx="73152" cy="17830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99592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MERGE OVERLAPS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572000"/>
            <a:ext cx="4572000" cy="8229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Concurrency group</a:t>
            </a:r>
            <a:br/>
            <a:r>
              <a:t>Branch isolation</a:t>
            </a:r>
            <a:br/>
            <a:r>
              <a:t>Idempotent fan-in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REQUIRED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Project Pulse: build an AI dream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Required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2011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1">
                <a:solidFill>
                  <a:srgbClr val="3FB950"/>
                </a:solidFill>
                <a:latin typeface="Aptos"/>
              </a:defRPr>
            </a:pPr>
            <a:r>
              <a:t>45 MINUTES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84831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600" b="1">
                <a:solidFill>
                  <a:srgbClr val="F0F6FC"/>
                </a:solidFill>
                <a:latin typeface="Aptos"/>
              </a:defRPr>
            </a:pPr>
            <a:r>
              <a:t>Plan, design, build, run, and validate Mona's Project Pulse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09544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  <a:latin typeface="Aptos Mono"/>
              </a:defRPr>
            </a:pPr>
            <a:r>
              <a:t>docs/agent-team.md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08960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3209544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58A6FF"/>
                </a:solidFill>
                <a:latin typeface="Aptos Mono"/>
              </a:defRPr>
            </a:pPr>
            <a:r>
              <a:t>docs/project-pulse-plan.md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30752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831335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 Mono"/>
              </a:defRPr>
            </a:pPr>
            <a:r>
              <a:t>app/index.html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730752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831335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 Mono"/>
              </a:defRPr>
            </a:pPr>
            <a:r>
              <a:t>app/styles.css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52544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453128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 Mono"/>
              </a:defRPr>
            </a:pPr>
            <a:r>
              <a:t>app/project-data.json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4352544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 Mono"/>
              </a:defRPr>
            </a:pPr>
            <a:r>
              <a:t>.vscode/launch.json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974336"/>
            <a:ext cx="5074920" cy="43891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074920"/>
            <a:ext cx="46634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1">
                <a:solidFill>
                  <a:srgbClr val="F0F6FC"/>
                </a:solidFill>
                <a:latin typeface="Aptos Mono"/>
              </a:defRPr>
            </a:pPr>
            <a:r>
              <a:t>docs/final-handoff.md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The custom agent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2606040" cy="2880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83080"/>
            <a:ext cx="73152" cy="28803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1168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84248"/>
            <a:ext cx="1508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60320"/>
            <a:ext cx="2103120" cy="19202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Coordinates phases</a:t>
            </a:r>
            <a:br/>
            <a:r>
              <a:t>Delegates; does not implement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783080"/>
            <a:ext cx="2606040" cy="2880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1783080"/>
            <a:ext cx="73152" cy="288036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2011680"/>
            <a:ext cx="502920" cy="502920"/>
          </a:xfrm>
          <a:prstGeom prst="ellipse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01168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1984248"/>
            <a:ext cx="1508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560320"/>
            <a:ext cx="2103120" cy="19202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Researches + sequences</a:t>
            </a:r>
            <a:br/>
            <a:r>
              <a:t>Defines ownership +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783080"/>
            <a:ext cx="2606040" cy="2880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783080"/>
            <a:ext cx="73152" cy="288036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3680" y="2011680"/>
            <a:ext cx="502920" cy="50292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01168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1984248"/>
            <a:ext cx="1508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DESIGNER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60320"/>
            <a:ext cx="2103120" cy="19202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UX + accessibility</a:t>
            </a:r>
            <a:br/>
            <a:r>
              <a:t>Owns visual decisions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1783080"/>
            <a:ext cx="2606040" cy="2880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1783080"/>
            <a:ext cx="73152" cy="2880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64040" y="2011680"/>
            <a:ext cx="502920" cy="50292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2011680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700" b="1">
                <a:solidFill>
                  <a:srgbClr val="0D111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04119" y="1984248"/>
            <a:ext cx="1508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CODER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2560320"/>
            <a:ext cx="2103120" cy="19202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Implements files</a:t>
            </a:r>
            <a:br/>
            <a:r>
              <a:t>Validates runnable behavior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57800"/>
            <a:ext cx="102412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0">
                <a:solidFill>
                  <a:srgbClr val="8B949E"/>
                </a:solidFill>
                <a:latin typeface="Aptos"/>
              </a:defRPr>
            </a:pPr>
            <a:r>
              <a:t>Orchestrator grants explicit file scope; specialists report files touched and validation evidence.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Project Pulse orchestration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INSPECT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4921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8073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PLAN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88889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786922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60074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DESIGN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30890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28923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02075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IMPLEMENT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72891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70924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4076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14892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12925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6077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VALIDATE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56893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354926" y="1828800"/>
            <a:ext cx="1349393" cy="987552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8078" y="1938528"/>
            <a:ext cx="1203089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HANDOFF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98894" y="2322576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49808" y="3657600"/>
            <a:ext cx="5166360" cy="1600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8" y="3657600"/>
            <a:ext cx="73152" cy="1600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3858768"/>
            <a:ext cx="4663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PROMPT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7" y="4434840"/>
            <a:ext cx="46634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Name the desired outcome, exact files, required fields, launch behavior, and validation command.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72784" y="3657600"/>
            <a:ext cx="5166360" cy="1600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2784" y="3657600"/>
            <a:ext cx="73152" cy="16002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47104" y="3858768"/>
            <a:ext cx="4663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HUMAN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4434840"/>
            <a:ext cx="46634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 the rendered dashboard at narrow and wide viewports and verify a clean browser console.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Project Pulse completion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4 — Project 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766560" cy="443484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82495"/>
            <a:ext cx="6400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84248"/>
            <a:ext cx="6400800" cy="3904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python3 scripts/project_pulse/validate_exercise.py --root .</a:t>
            </a:r>
            <a:br/>
            <a:br/>
            <a:r>
              <a:t>PASS: project data has at least two projects</a:t>
            </a:r>
            <a:br/>
            <a:r>
              <a:t>PASS: dashboard source fetches project-data.json</a:t>
            </a:r>
            <a:br/>
            <a:r>
              <a:t>PASS: launch configuration is runnable</a:t>
            </a:r>
            <a:br/>
            <a:r>
              <a:t>PASS: launch configuration opens index.html</a:t>
            </a:r>
            <a:br/>
            <a:r>
              <a:t>PASS: final handoff names every agent and deliverable</a:t>
            </a:r>
            <a:br/>
            <a:r>
              <a:t>All Project Pulse validation checks passed.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90688" y="1691640"/>
            <a:ext cx="3611880" cy="1600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0688" y="1691640"/>
            <a:ext cx="73152" cy="16002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1892808"/>
            <a:ext cx="31089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STATIC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468880"/>
            <a:ext cx="31089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Files • JSON • source wiring • required fields • launch schema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0688" y="3611880"/>
            <a:ext cx="3611880" cy="16002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0688" y="3611880"/>
            <a:ext cx="73152" cy="1600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5008" y="3813048"/>
            <a:ext cx="31089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HUMAN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8" y="4389120"/>
            <a:ext cx="31089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Rendered cards • responsive layout • accessibility • browser errors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58A6FF"/>
                </a:solidFill>
                <a:latin typeface="Aptos"/>
              </a:defRPr>
            </a:pPr>
            <a:r>
              <a:t>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Memory, State,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Preserve useful continuity with provenance while detecting drift and enforcing explicit success signals.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58A6FF"/>
                </a:solidFill>
                <a:latin typeface="Aptos Display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Three memory horizons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37360"/>
            <a:ext cx="3456432" cy="3154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737360"/>
            <a:ext cx="73152" cy="31546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38528"/>
            <a:ext cx="295351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SHORT-TERM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14600"/>
            <a:ext cx="295351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Current task context</a:t>
            </a:r>
            <a:br/>
            <a:r>
              <a:t>Tool outputs</a:t>
            </a:r>
            <a:br/>
            <a:r>
              <a:t>Working hypotheses</a:t>
            </a:r>
            <a:br/>
            <a:r>
              <a:t>Discard or compact quickly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56432" cy="3154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37360"/>
            <a:ext cx="73152" cy="315468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295351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LONG-TERM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514600"/>
            <a:ext cx="295351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Stable conventions</a:t>
            </a:r>
            <a:br/>
            <a:r>
              <a:t>Validated decisions</a:t>
            </a:r>
            <a:br/>
            <a:r>
              <a:t>Reusable preferences</a:t>
            </a:r>
            <a:br/>
            <a:r>
              <a:t>Retention policy required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37360"/>
            <a:ext cx="3456432" cy="31546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37360"/>
            <a:ext cx="73152" cy="31546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38528"/>
            <a:ext cx="295351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EXTERNAL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514600"/>
            <a:ext cx="295351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Issues + PRs</a:t>
            </a:r>
            <a:br/>
            <a:r>
              <a:t>Artifacts + logs</a:t>
            </a:r>
            <a:br/>
            <a:r>
              <a:t>JSONL event history</a:t>
            </a:r>
            <a:br/>
            <a:r>
              <a:t>System of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40680"/>
            <a:ext cx="10241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D29922"/>
                </a:solidFill>
                <a:latin typeface="Aptos"/>
              </a:defRPr>
            </a:pPr>
            <a:r>
              <a:t>Persist: facts + provenance. Avoid: secrets, unsupported inference, and unbounded transcripts.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Event log → snapshot → continuity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852160" cy="452628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82495"/>
            <a:ext cx="5486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STATE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84248"/>
            <a:ext cx="5486400" cy="399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"sequence": 1,</a:t>
            </a:r>
            <a:br/>
            <a:r>
              <a:t>  "event_type": "implementation.accepted",</a:t>
            </a:r>
            <a:br/>
            <a:r>
              <a:t>  "source": "scripts/implement/apply_plan.py",</a:t>
            </a:r>
            <a:br/>
            <a:r>
              <a:t>  "payload": {</a:t>
            </a:r>
            <a:br/>
            <a:r>
              <a:t>    "request_id": "demo-plan-001",</a:t>
            </a:r>
            <a:br/>
            <a:r>
              <a:t>    "status": "ready_for_review",</a:t>
            </a:r>
            <a:br/>
            <a:r>
              <a:t>    "changed_files": ["artifacts/health-report.json"]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1828800"/>
            <a:ext cx="877824" cy="86868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12864" y="1938528"/>
            <a:ext cx="731519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APPEND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828800"/>
            <a:ext cx="877824" cy="86868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1938528"/>
            <a:ext cx="731519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ORDER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54112" y="226314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80576" y="1828800"/>
            <a:ext cx="877824" cy="86868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53728" y="1938528"/>
            <a:ext cx="731519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HASH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24543" y="2263140"/>
            <a:ext cx="219457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1008" y="1828800"/>
            <a:ext cx="877824" cy="86868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1938528"/>
            <a:ext cx="731519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SNAPSHOT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94976" y="226314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949440" y="3200400"/>
            <a:ext cx="4160520" cy="2468880"/>
          </a:xfrm>
          <a:prstGeom prst="rect">
            <a:avLst/>
          </a:prstGeom>
          <a:noFill/>
        </p:spPr>
        <p:txBody>
          <a:bodyPr wrap="square" lIns="109728" rIns="54864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Source identifies producer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Sequence preserves order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Hash detects mutation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Snapshot supports recovery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Retention prevents stale context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Evaluation signals and quality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5 — Memory +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91640"/>
            <a:ext cx="5074920" cy="3246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73152" cy="32461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9280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DETERMINISTIC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4572000" cy="228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Schema parses</a:t>
            </a:r>
            <a:br/>
            <a:r>
              <a:t>Files exist</a:t>
            </a:r>
            <a:br/>
            <a:r>
              <a:t>Hashes match</a:t>
            </a:r>
            <a:br/>
            <a:r>
              <a:t>Tests pass</a:t>
            </a:r>
            <a:br/>
            <a:r>
              <a:t>Risk threshold is respected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3246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691640"/>
            <a:ext cx="73152" cy="324612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892808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JUDGMENT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468880"/>
            <a:ext cx="4572000" cy="228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Design quality</a:t>
            </a:r>
            <a:br/>
            <a:r>
              <a:t>Requirement ambiguity</a:t>
            </a:r>
            <a:br/>
            <a:r>
              <a:t>User value</a:t>
            </a:r>
            <a:br/>
            <a:r>
              <a:t>Acceptable tradeoffs</a:t>
            </a:r>
            <a:br/>
            <a:r>
              <a:t>Novel failure analysis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8840" y="5349240"/>
            <a:ext cx="7909560" cy="54864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5504688"/>
            <a:ext cx="7543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F85149"/>
                </a:solidFill>
                <a:latin typeface="Aptos"/>
              </a:defRPr>
            </a:pPr>
            <a:r>
              <a:t>A failed quality gate is an explicit outcome — never a detail to hide.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2743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F85149"/>
                </a:solidFill>
                <a:latin typeface="Aptos"/>
              </a:defRPr>
            </a:pPr>
            <a: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996696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F0F6FC"/>
                </a:solidFill>
                <a:latin typeface="Aptos Display"/>
              </a:defRPr>
            </a:pPr>
            <a:r>
              <a:t>Governance, Guardrails, and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46120"/>
            <a:ext cx="90525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100" b="0">
                <a:solidFill>
                  <a:srgbClr val="8B949E"/>
                </a:solidFill>
                <a:latin typeface="Aptos"/>
              </a:defRPr>
            </a:pPr>
            <a:r>
              <a:t>Scale autonomy according to risk, preserve human control, and make every consequential action reversible and auditable.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709160"/>
            <a:ext cx="10698480" cy="13716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4956048"/>
            <a:ext cx="15087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5600" b="1">
                <a:solidFill>
                  <a:srgbClr val="F85149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6 —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Risk-based autonomy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6 —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508760"/>
            <a:ext cx="10332720" cy="7498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55063"/>
            <a:ext cx="411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3FB950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55063"/>
            <a:ext cx="47548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READ + SUMMARIZE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55063"/>
            <a:ext cx="3840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600" b="1">
                <a:solidFill>
                  <a:srgbClr val="3FB950"/>
                </a:solidFill>
                <a:latin typeface="Aptos"/>
              </a:defRPr>
            </a:pPr>
            <a:r>
              <a:t>Auto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23160"/>
            <a:ext cx="10332720" cy="7498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569464"/>
            <a:ext cx="411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58A6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569464"/>
            <a:ext cx="47548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PROPOSE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9464"/>
            <a:ext cx="3840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600" b="1">
                <a:solidFill>
                  <a:srgbClr val="58A6FF"/>
                </a:solidFill>
                <a:latin typeface="Aptos"/>
              </a:defRPr>
            </a:pPr>
            <a:r>
              <a:t>Auto + validate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337560"/>
            <a:ext cx="10332720" cy="7498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483864"/>
            <a:ext cx="411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A371F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47548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OPEN PULL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483864"/>
            <a:ext cx="3840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600" b="1">
                <a:solidFill>
                  <a:srgbClr val="A371F7"/>
                </a:solidFill>
                <a:latin typeface="Aptos"/>
              </a:defRPr>
            </a:pPr>
            <a:r>
              <a:t>Review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251960"/>
            <a:ext cx="10332720" cy="7498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98264"/>
            <a:ext cx="411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D29922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98264"/>
            <a:ext cx="47548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DEPLOY / MUTATE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398264"/>
            <a:ext cx="3840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600" b="1">
                <a:solidFill>
                  <a:srgbClr val="D29922"/>
                </a:solidFill>
                <a:latin typeface="Aptos"/>
              </a:defRPr>
            </a:pPr>
            <a:r>
              <a:t>Environment approval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166360"/>
            <a:ext cx="10332720" cy="7498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312664"/>
            <a:ext cx="411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F85149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312664"/>
            <a:ext cx="47548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F0F6FC"/>
                </a:solidFill>
                <a:latin typeface="Aptos"/>
              </a:defRPr>
            </a:pPr>
            <a:r>
              <a:t>IRREVERSIBLE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312664"/>
            <a:ext cx="3840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600" b="1">
                <a:solidFill>
                  <a:srgbClr val="F85149"/>
                </a:solidFill>
                <a:latin typeface="Aptos"/>
              </a:defRPr>
            </a:pPr>
            <a:r>
              <a:t>Deny or exceptional process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MODULE 6 —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Guardrail → approval → audit → recovery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Module 6 —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933041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801368"/>
            <a:ext cx="1786737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1449" y="1691640"/>
            <a:ext cx="1933041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4601" y="1801368"/>
            <a:ext cx="1786737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POLICY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5417" y="217170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37099" y="1691640"/>
            <a:ext cx="1933041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0251" y="1801368"/>
            <a:ext cx="1786737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81067" y="217170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62748" y="1691640"/>
            <a:ext cx="1933041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35900" y="1801368"/>
            <a:ext cx="1786737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AUDIT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6716" y="217170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88398" y="1691640"/>
            <a:ext cx="1933041" cy="96012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1550" y="1801368"/>
            <a:ext cx="1786737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1600" b="1">
                <a:solidFill>
                  <a:srgbClr val="F0F6FC"/>
                </a:solidFill>
                <a:latin typeface="Aptos"/>
              </a:defRPr>
            </a:pPr>
            <a:r>
              <a:t>ROLLBACK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32366" y="2171700"/>
            <a:ext cx="219456" cy="0"/>
          </a:xfrm>
          <a:prstGeom prst="line">
            <a:avLst/>
          </a:prstGeom>
          <a:ln w="19050">
            <a:solidFill>
              <a:srgbClr val="8B94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68680" y="3383280"/>
            <a:ext cx="5257800" cy="2423160"/>
          </a:xfrm>
          <a:prstGeom prst="roundRect">
            <a:avLst/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93008"/>
            <a:ext cx="48920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00" b="1">
                <a:solidFill>
                  <a:srgbClr val="58A6FF"/>
                </a:solidFill>
                <a:latin typeface="Aptos"/>
              </a:defRPr>
            </a:pPr>
            <a:r>
              <a:t>GOVERNANCE 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94760"/>
            <a:ext cx="4892040" cy="1892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0F6FC"/>
                </a:solidFill>
                <a:latin typeface="Aptos Mono"/>
              </a:defRPr>
            </a:pPr>
            <a:r>
              <a:t>{</a:t>
            </a:r>
            <a:br/>
            <a:r>
              <a:t>  "requested_action": "open_pull_request",</a:t>
            </a:r>
            <a:br/>
            <a:r>
              <a:t>  "permissions": [</a:t>
            </a:r>
            <a:br/>
            <a:r>
              <a:t>    "contents:read",</a:t>
            </a:r>
            <a:br/>
            <a:r>
              <a:t>    "pull-requests:write"</a:t>
            </a:r>
            <a:br/>
            <a:r>
              <a:t>  ],</a:t>
            </a:r>
            <a:br/>
            <a:r>
              <a:t>  "protected_branch": true,</a:t>
            </a:r>
            <a:br/>
            <a:r>
              <a:t>  "approval": {"required": true, "present": false}</a:t>
            </a:r>
            <a:br/>
            <a:r>
              <a:t>}</a:t>
            </a:r>
            <a:br/>
            <a:br/>
            <a:r>
              <a:t>→ decision: "approval_required"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4480560" cy="2377440"/>
          </a:xfrm>
          <a:prstGeom prst="rect">
            <a:avLst/>
          </a:prstGeom>
          <a:noFill/>
        </p:spPr>
        <p:txBody>
          <a:bodyPr wrap="square" lIns="109728" rIns="54864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Narrow required permissions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Human gate for protected branch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Run ID + actor + policy version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Changed paths recorded</a:t>
            </a:r>
          </a:p>
          <a:p>
            <a:pPr>
              <a:spcAft>
                <a:spcPts val="1000"/>
              </a:spcAft>
              <a:defRPr sz="1700">
                <a:solidFill>
                  <a:srgbClr val="F0F6FC"/>
                </a:solidFill>
                <a:latin typeface="Aptos"/>
              </a:defRPr>
            </a:pPr>
            <a:r>
              <a:t>Rollback reference prepared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WORKSHOP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Capstone: prove the whole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Workshop 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73152" cy="1207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0992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AGENT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286000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50876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1508760"/>
            <a:ext cx="73152" cy="120700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170992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TOOL + PERMISSION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2286000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50876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47888" y="1508760"/>
            <a:ext cx="73152" cy="1207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70992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VERSIONED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286000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1752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017520"/>
            <a:ext cx="73152" cy="1207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21868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TWO SPECIALIST OUTPUTS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79475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8" y="301752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07408" y="3017520"/>
            <a:ext cx="73152" cy="1207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21868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MERGED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379475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3017520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3017520"/>
            <a:ext cx="73152" cy="120700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3218688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STATE SNAPSHOT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379475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526279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526279"/>
            <a:ext cx="73152" cy="1207008"/>
          </a:xfrm>
          <a:prstGeom prst="rect">
            <a:avLst/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4727447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EVALUATION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530351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07408" y="4526279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07408" y="4526279"/>
            <a:ext cx="73152" cy="1207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81728" y="4727447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APPROVAL + AUDIT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8" y="530351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47888" y="4526279"/>
            <a:ext cx="352044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47888" y="4526279"/>
            <a:ext cx="73152" cy="1207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4727447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1">
                <a:solidFill>
                  <a:srgbClr val="F0F6FC"/>
                </a:solidFill>
                <a:latin typeface="Aptos"/>
              </a:defRPr>
            </a:pPr>
            <a:r>
              <a:t>ROLLBACK PROCEDURE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2208" y="5303519"/>
            <a:ext cx="30175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Aptos"/>
              </a:defRPr>
            </a:pPr>
            <a:r>
              <a:t>Inspectable evidence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6080760"/>
            <a:ext cx="9966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800" b="1">
                <a:solidFill>
                  <a:srgbClr val="F0F6FC"/>
                </a:solidFill>
                <a:latin typeface="Aptos"/>
              </a:defRPr>
            </a:pPr>
            <a:r>
              <a:t>Rubric: bounded • reproducible • observable • reversible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100" b="1">
                <a:solidFill>
                  <a:srgbClr val="58A6FF"/>
                </a:solidFill>
                <a:latin typeface="Aptos"/>
              </a:defRPr>
            </a:pPr>
            <a:r>
              <a:t>CERTIFICATION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800" b="1">
                <a:solidFill>
                  <a:srgbClr val="F0F6FC"/>
                </a:solidFill>
                <a:latin typeface="Aptos Display"/>
              </a:defRPr>
            </a:pPr>
            <a:r>
              <a:t>Use the workshop as a GH-600 study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07592"/>
            <a:ext cx="11018520" cy="228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201168"/>
            <a:ext cx="502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1000" b="1">
                <a:solidFill>
                  <a:srgbClr val="8B949E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Certification 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81912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  <a:latin typeface="Aptos"/>
              </a:defRPr>
            </a:pPr>
            <a:r>
              <a:t>Architecture + SDLC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21991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Agent contract + plan handoff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581912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764792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D29922"/>
                </a:solidFill>
                <a:latin typeface="Aptos"/>
              </a:defRPr>
            </a:pPr>
            <a:r>
              <a:t>Tool interaction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2221991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MCP boundary + execution environments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154680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337560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A371F7"/>
                </a:solidFill>
                <a:latin typeface="Aptos"/>
              </a:defRPr>
            </a:pPr>
            <a:r>
              <a:t>Memory +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794760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Event log +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4224" y="3154680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2824" y="3337560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3FB950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2824" y="3794760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Quality gates + failure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27448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10328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58A6FF"/>
                </a:solidFill>
                <a:latin typeface="Aptos"/>
              </a:defRPr>
            </a:pPr>
            <a:r>
              <a:t>Multi-agent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5367528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Fan-in workflow + Project Pulse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64224" y="4727448"/>
            <a:ext cx="5212080" cy="120700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2824" y="4910328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800" b="1">
                <a:solidFill>
                  <a:srgbClr val="F85149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2824" y="5367528"/>
            <a:ext cx="4663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Aptos"/>
              </a:defRPr>
            </a:pPr>
            <a:r>
              <a:t>Approval + audit + rollback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5806440"/>
            <a:ext cx="4114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1">
                <a:solidFill>
                  <a:srgbClr val="58A6FF"/>
                </a:solidFill>
                <a:latin typeface="Aptos Mono"/>
              </a:defRPr>
            </a:pPr>
            <a:r>
              <a:t>docs/source-coverage.md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822960"/>
            <a:ext cx="6858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300" b="1">
                <a:solidFill>
                  <a:srgbClr val="3FB950"/>
                </a:solidFill>
                <a:latin typeface="Aptos"/>
              </a:defRPr>
            </a:pPr>
            <a:r>
              <a:t>EVIDENCE OVER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87552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4000" b="1">
                <a:solidFill>
                  <a:srgbClr val="F0F6FC"/>
                </a:solidFill>
                <a:latin typeface="Aptos Display"/>
              </a:defRPr>
            </a:pPr>
            <a:r>
              <a:t>Build agents you can</a:t>
            </a:r>
            <a:br/>
            <a:r>
              <a:t>inspect, stop, and trust.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10744200" cy="1097280"/>
          </a:xfrm>
          <a:prstGeom prst="roundRect">
            <a:avLst/>
          </a:prstGeom>
          <a:solidFill>
            <a:srgbClr val="21262D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4096512"/>
            <a:ext cx="1010412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200" b="1">
                <a:solidFill>
                  <a:srgbClr val="F0F6FC"/>
                </a:solidFill>
                <a:latin typeface="Aptos"/>
              </a:defRPr>
            </a:pPr>
            <a:r>
              <a:t>What is one action you would never allow an agent to perform without human approval?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  <a:latin typeface="Aptos"/>
              </a:defRPr>
            </a:pPr>
            <a:r>
              <a:t>Run the labs  •  inspect the artifacts  •  practice the recovery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537960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Aptos"/>
              </a:defRPr>
            </a:pPr>
            <a:r>
              <a:t>GitHub Certified: Agentic AI Developer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537960"/>
            <a:ext cx="42519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37960"/>
            <a:ext cx="228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8B949E"/>
                </a:solidFill>
                <a:latin typeface="Aptos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Certified: Agentic AI Developer Workshop</dc:title>
  <dc:subject>Instructor-ready workshop deck aligned to GH-600</dc:subject>
  <dc:creator>Agentic SDLC Workshop</dc:creator>
  <cp:keywords>GitHub, Copilot, agentic AI, GH-600, SDLC, MCP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