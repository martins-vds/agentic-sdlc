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</a:t>
            </a:r>
          </a:p>
          <a:p>
            <a:r>
              <a:t>We will be building and inspecting agent workflows today</a:t>
            </a:r>
          </a:p>
          <a:p>
            <a:r>
              <a:t>Not trying to give an agent unlimited autonomy</a:t>
            </a:r>
          </a:p>
          <a:p>
            <a:r>
              <a:t>We want to know what it can do, when it should stop, and how we check its work</a:t>
            </a:r>
          </a:p>
          <a:p/>
          <a:p>
            <a:r>
              <a:t>Good time for a round of introductions</a:t>
            </a:r>
          </a:p>
          <a:p>
            <a:r>
              <a:t>What is your experience with GitHub and Copilot?</a:t>
            </a:r>
          </a:p>
          <a:p>
            <a:r>
              <a:t>What are you excited to learn today?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 training</a:t>
            </a:r>
          </a:p>
          <a:p>
            <a:r>
              <a:t>Each module gives us something we can inspect</a:t>
            </a:r>
          </a:p>
          <a:p>
            <a:r>
              <a:t>A contract, a plan, a tool decision, or validation evidence</a:t>
            </a:r>
          </a:p>
          <a:p/>
          <a:p>
            <a:r>
              <a:t>Ask which area is most relevant to their day-to-day work</a:t>
            </a:r>
          </a:p>
          <a:p>
            <a:r>
              <a:t>Keep that example in mind as we go through the labs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work through six modules, then a capstone</a:t>
            </a:r>
          </a:p>
          <a:p>
            <a:r>
              <a:t>Share the lab links before starting</a:t>
            </a:r>
          </a:p>
          <a:p/>
          <a:p>
            <a:r>
              <a:t>Module 4 is the longer block</a:t>
            </a:r>
          </a:p>
          <a:p>
            <a:r>
              <a:t>We run the parallel workflow and spend 45 minutes on Project Pulse</a:t>
            </a:r>
          </a:p>
          <a:p>
            <a:r>
              <a:t>Make sure everyone has time to run the app, not just generate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weighting ranges, not exact question counts</a:t>
            </a:r>
          </a:p>
          <a:p>
            <a:r>
              <a:t>We will connect the domains to things we can run in the repository</a:t>
            </a:r>
          </a:p>
          <a:p/>
          <a:p>
            <a:r>
              <a:t>Architecture first, then tools, coordination, memory, and governance</a:t>
            </a:r>
          </a:p>
          <a:p>
            <a:r>
              <a:t>The important part is understanding why each control is there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vocabulary</a:t>
            </a:r>
          </a:p>
          <a:p>
            <a:r>
              <a:t>Then define a contract and decide which tools the agent can use</a:t>
            </a:r>
          </a:p>
          <a:p>
            <a:r>
              <a:t>After that we can coordinate agents and keep useful state</a:t>
            </a:r>
          </a:p>
          <a:p/>
          <a:p>
            <a:r>
              <a:t>Governance is not something we add at the end</a:t>
            </a:r>
          </a:p>
          <a:p>
            <a:r>
              <a:t>The earlier decisions give us the evidence we need to review and recover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what do we mean by an agent?</a:t>
            </a:r>
          </a:p>
          <a:p>
            <a:r>
              <a:t>Not a personality or a chat window</a:t>
            </a:r>
          </a:p>
          <a:p>
            <a:r>
              <a:t>Look at the loop, the tools, and the authority it has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assistant can suggest a change</a:t>
            </a:r>
          </a:p>
          <a:p>
            <a:r>
              <a:t>An agent may be able to make that change and continue working</a:t>
            </a:r>
          </a:p>
          <a:p>
            <a:r>
              <a:t>That is where the risk changes</a:t>
            </a:r>
          </a:p>
          <a:p/>
          <a:p>
            <a:r>
              <a:t>Ask what this system can do without another human decision</a:t>
            </a:r>
          </a:p>
          <a:p>
            <a:r>
              <a:t>Tool calls and changes to state are the things to look for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loop from left to right</a:t>
            </a:r>
          </a:p>
          <a:p>
            <a:r>
              <a:t>We give the agent a goal, it plans, acts, and checks what happened</a:t>
            </a:r>
          </a:p>
          <a:p>
            <a:r>
              <a:t>Evaluation decides what happens next</a:t>
            </a:r>
          </a:p>
          <a:p/>
          <a:p>
            <a:r>
              <a:t>Stop, retry, re-plan, or ask a human</a:t>
            </a:r>
          </a:p>
          <a:p>
            <a:r>
              <a:t>A message saying 'done' is not enough</a:t>
            </a:r>
          </a:p>
          <a:p>
            <a:r>
              <a:t>Show the artifact and the check that passed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is where we keep the work and the evidence</a:t>
            </a:r>
          </a:p>
          <a:p>
            <a:r>
              <a:t>An issue tells us what was requested</a:t>
            </a:r>
          </a:p>
          <a:p>
            <a:r>
              <a:t>A pull request shows what changed</a:t>
            </a:r>
          </a:p>
          <a:p>
            <a:r>
              <a:t>Checks tell us what passed, and rulesets control what can merge</a:t>
            </a:r>
          </a:p>
          <a:p/>
          <a:p>
            <a:r>
              <a:t>Ask where learners currently record an approval</a:t>
            </a:r>
          </a:p>
          <a:p>
            <a:r>
              <a:t>Could another person find it later?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looking at the JSON, explain the fields</a:t>
            </a:r>
          </a:p>
          <a:p>
            <a:r>
              <a:t>What is the goal?</a:t>
            </a:r>
          </a:p>
          <a:p>
            <a:r>
              <a:t>Which tools can it use, and what is it not allowed to do?</a:t>
            </a:r>
          </a:p>
          <a:p>
            <a:r>
              <a:t>When does it stop or ask for help?</a:t>
            </a:r>
          </a:p>
          <a:p/>
          <a:p>
            <a:r>
              <a:t>Open Lab 1 and write the contract</a:t>
            </a:r>
          </a:p>
          <a:p>
            <a:r>
              <a:t>Check everyone has a stop condition and an escalation rule</a:t>
            </a:r>
          </a:p>
          <a:p>
            <a:r>
              <a:t>Those are easy to leave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have the vocabulary, we can connect the pieces</a:t>
            </a:r>
          </a:p>
          <a:p>
            <a:r>
              <a:t>One process needs to pick up another process's work</a:t>
            </a:r>
          </a:p>
          <a:p>
            <a:r>
              <a:t>It should not have to guess what the output means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role has a job and an output it owns</a:t>
            </a:r>
          </a:p>
          <a:p>
            <a:r>
              <a:t>The Planner writes the plan</a:t>
            </a:r>
          </a:p>
          <a:p>
            <a:r>
              <a:t>The Implementer makes the payload</a:t>
            </a:r>
          </a:p>
          <a:p>
            <a:r>
              <a:t>The Validator checks it</a:t>
            </a:r>
          </a:p>
          <a:p>
            <a:r>
              <a:t>The human owns the approval decision</a:t>
            </a:r>
          </a:p>
          <a:p/>
          <a:p>
            <a:r>
              <a:t>If something fails, we know where to look</a:t>
            </a:r>
          </a:p>
          <a:p>
            <a:r>
              <a:t>File ownership also helps keep two agents from editing the same 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the plan like an API between jobs</a:t>
            </a:r>
          </a:p>
          <a:p>
            <a:r>
              <a:t>The schema version tells the next job what it can read</a:t>
            </a:r>
          </a:p>
          <a:p>
            <a:r>
              <a:t>The request hash tells us which input produced it</a:t>
            </a:r>
          </a:p>
          <a:p>
            <a:r>
              <a:t>Acceptance criteria go with the work</a:t>
            </a:r>
          </a:p>
          <a:p/>
          <a:p>
            <a:r>
              <a:t>Show what happens if a required field is missing</a:t>
            </a:r>
          </a:p>
          <a:p>
            <a:r>
              <a:t>The implementer should reject that plan, not guess a default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.github/workflows/plan-implement.yml</a:t>
            </a:r>
          </a:p>
          <a:p>
            <a:r>
              <a:t>Follow the plan artifact between the jobs</a:t>
            </a:r>
          </a:p>
          <a:p>
            <a:r>
              <a:t>The first job uploads plan.json</a:t>
            </a:r>
          </a:p>
          <a:p>
            <a:r>
              <a:t>The next job downloads it and runs apply_plan.py</a:t>
            </a:r>
          </a:p>
          <a:p/>
          <a:p>
            <a:r>
              <a:t>Run the lab and open the generated health report</a:t>
            </a:r>
          </a:p>
          <a:p>
            <a:r>
              <a:t>There should also be a manifest with the digest and byte size</a:t>
            </a:r>
          </a:p>
          <a:p>
            <a:r>
              <a:t>Make sure everyone can find both outputs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report is the payload</a:t>
            </a:r>
          </a:p>
          <a:p>
            <a:r>
              <a:t>The manifest records which bytes we handed off</a:t>
            </a:r>
          </a:p>
          <a:p/>
          <a:p>
            <a:r>
              <a:t>Run sha256sum on the generated report</a:t>
            </a:r>
          </a:p>
          <a:p>
            <a:r>
              <a:t>Compare it with the manifest</a:t>
            </a:r>
          </a:p>
          <a:p>
            <a:r>
              <a:t>Now change the report and run it again</a:t>
            </a:r>
          </a:p>
          <a:p>
            <a:r>
              <a:t>The digest no longer matches</a:t>
            </a:r>
          </a:p>
          <a:p>
            <a:r>
              <a:t>That is how the next job can detect a changed artifact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giving an agent write access, decide how its work reaches main</a:t>
            </a:r>
          </a:p>
          <a:p>
            <a:r>
              <a:t>What checks must pass?</a:t>
            </a:r>
          </a:p>
          <a:p>
            <a:r>
              <a:t>Who needs to review it?</a:t>
            </a:r>
          </a:p>
          <a:p>
            <a:r>
              <a:t>Can it bypass a protected branch?</a:t>
            </a:r>
          </a:p>
          <a:p/>
          <a:p>
            <a:r>
              <a:t>Use the same pull request controls we would use for a teammate</a:t>
            </a:r>
          </a:p>
          <a:p>
            <a:r>
              <a:t>Have a recovery path before a deployment, not after it fails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we will connect tools</a:t>
            </a:r>
          </a:p>
          <a:p>
            <a:r>
              <a:t>Being able to call a tool does not mean every action is allowed</a:t>
            </a:r>
          </a:p>
          <a:p>
            <a:r>
              <a:t>MCP handles the connection</a:t>
            </a:r>
          </a:p>
          <a:p>
            <a:r>
              <a:t>Our policy still decides what the agent can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request shape</a:t>
            </a:r>
          </a:p>
          <a:p>
            <a:r>
              <a:t>Then the named tool and operation</a:t>
            </a:r>
          </a:p>
          <a:p>
            <a:r>
              <a:t>Then check the permissions and path</a:t>
            </a:r>
          </a:p>
          <a:p>
            <a:r>
              <a:t>Finally record the decision and the reason</a:t>
            </a:r>
          </a:p>
          <a:p/>
          <a:p>
            <a:r>
              <a:t>A valid JSON-RPC request can still be denied</a:t>
            </a:r>
          </a:p>
          <a:p>
            <a:r>
              <a:t>Correct format is not the same thing as permission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read request first</a:t>
            </a:r>
          </a:p>
          <a:p>
            <a:r>
              <a:t>Look at the allowed decision</a:t>
            </a:r>
          </a:p>
          <a:p/>
          <a:p>
            <a:r>
              <a:t>Change the operation to write_file and run it again</a:t>
            </a:r>
          </a:p>
          <a:p>
            <a:r>
              <a:t>Same request format, different permission outcome</a:t>
            </a:r>
          </a:p>
          <a:p>
            <a:r>
              <a:t>Check the nonzero exit code and the denied audit record</a:t>
            </a:r>
          </a:p>
          <a:p>
            <a:r>
              <a:t>Field any questions about the difference between a protocol and a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 Codespaces when a person is exploring and inspecting the work</a:t>
            </a:r>
          </a:p>
          <a:p>
            <a:r>
              <a:t>Actions gives us a repeatable run with logs and artifacts</a:t>
            </a:r>
          </a:p>
          <a:p>
            <a:r>
              <a:t>An agent workflow may use both</a:t>
            </a:r>
          </a:p>
          <a:p/>
          <a:p>
            <a:r>
              <a:t>Check permissions in each environment</a:t>
            </a:r>
          </a:p>
          <a:p>
            <a:r>
              <a:t>Network access, secrets, write scope, timeout, and retention</a:t>
            </a:r>
          </a:p>
          <a:p>
            <a:r>
              <a:t>Do not assume the interactive session and the workflow have the same authority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two labs in this section</a:t>
            </a:r>
          </a:p>
          <a:p>
            <a:r>
              <a:t>First the deterministic parallel workflow</a:t>
            </a:r>
          </a:p>
          <a:p>
            <a:r>
              <a:t>Then the Project Pulse custom-agent team</a:t>
            </a:r>
          </a:p>
          <a:p/>
          <a:p>
            <a:r>
              <a:t>More agents does not automatically mean better coordination</a:t>
            </a:r>
          </a:p>
          <a:p>
            <a:r>
              <a:t>We need ownership, handoffs, and a way to handle failures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 arrows</a:t>
            </a:r>
          </a:p>
          <a:p>
            <a:r>
              <a:t>The Spec Analyzer and Risk Reviewer can run at the same time</a:t>
            </a:r>
          </a:p>
          <a:p>
            <a:r>
              <a:t>They have separate outputs</a:t>
            </a:r>
          </a:p>
          <a:p/>
          <a:p>
            <a:r>
              <a:t>The merger waits for both reports</a:t>
            </a:r>
          </a:p>
          <a:p>
            <a:r>
              <a:t>That is the fan-in point</a:t>
            </a:r>
          </a:p>
          <a:p>
            <a:r>
              <a:t>Then a separate validator checks the merged plan</a:t>
            </a:r>
          </a:p>
          <a:p>
            <a:r>
              <a:t>Ask what should happen if only one report arrives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.github/workflows/multi-agent.yml</a:t>
            </a:r>
          </a:p>
          <a:p>
            <a:r>
              <a:t>Show the two matrix roles and their Python executors</a:t>
            </a:r>
          </a:p>
          <a:p>
            <a:r>
              <a:t>Each specialist gets its own artifact directory</a:t>
            </a:r>
          </a:p>
          <a:p/>
          <a:p>
            <a:r>
              <a:t>The slide shows an excerpt; use the workflow file for the full commands</a:t>
            </a:r>
          </a:p>
          <a:p>
            <a:r>
              <a:t>Run it and find both uploaded reports</a:t>
            </a:r>
          </a:p>
          <a:p>
            <a:r>
              <a:t>Then inspect the merged plan and validation result</a:t>
            </a:r>
          </a:p>
          <a:p>
            <a:r>
              <a:t>The concurrency group keeps merge jobs for the same branch from overlapping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Failures are part of the workflow</a:t>
            </a:r>
          </a:p>
          <a:p>
            <a:r>
              <a:t>Keep the successful specialist's output if the other one fails</a:t>
            </a:r>
          </a:p>
          <a:p>
            <a:r>
              <a:t>Do not discard useful evidence</a:t>
            </a:r>
          </a:p>
          <a:p/>
          <a:p>
            <a:r>
              <a:t>Ask which of these can retry automatically</a:t>
            </a:r>
          </a:p>
          <a:p>
            <a:r>
              <a:t>Which one needs a human?</a:t>
            </a:r>
          </a:p>
          <a:p>
            <a:r>
              <a:t>Retries need a limit, and rerunning a step should not duplicate the side effects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will build Mona's Project Pulse dashboard</a:t>
            </a:r>
          </a:p>
          <a:p>
            <a:r>
              <a:t>This is the in-repository adaptation of the Microsoft Learn and GitHub Skills exercise</a:t>
            </a:r>
          </a:p>
          <a:p>
            <a:r>
              <a:t>We will use Copilot CLI and the four custom agents</a:t>
            </a:r>
          </a:p>
          <a:p/>
          <a:p>
            <a:r>
              <a:t>Open labs/04-multi-agent/project-pulse/README.md</a:t>
            </a:r>
          </a:p>
          <a:p>
            <a:r>
              <a:t>Walk through the required files before starting</a:t>
            </a:r>
          </a:p>
          <a:p>
            <a:r>
              <a:t>We have 45 minutes</a:t>
            </a:r>
          </a:p>
          <a:p>
            <a:r>
              <a:t>Leave time to run the dashboard and inspect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.github/agents and read the definitions</a:t>
            </a:r>
          </a:p>
          <a:p>
            <a:r>
              <a:t>The Orchestrator coordinates; it does not implement the app</a:t>
            </a:r>
          </a:p>
          <a:p>
            <a:r>
              <a:t>The Planner sequences the work</a:t>
            </a:r>
          </a:p>
          <a:p>
            <a:r>
              <a:t>The Designer owns the visual decisions</a:t>
            </a:r>
          </a:p>
          <a:p>
            <a:r>
              <a:t>The Coder implements and checks runnable behavior</a:t>
            </a:r>
          </a:p>
          <a:p/>
          <a:p>
            <a:r>
              <a:t>Look at tools, file scope, and handoff rules</a:t>
            </a:r>
          </a:p>
          <a:p>
            <a:r>
              <a:t>Those boundaries matter more than just choosing a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 Orchestrator with /agent</a:t>
            </a:r>
          </a:p>
          <a:p>
            <a:r>
              <a:t>Give it the outcome and the exact deliverables from the lab</a:t>
            </a:r>
          </a:p>
          <a:p>
            <a:r>
              <a:t>The Planner goes first</a:t>
            </a:r>
          </a:p>
          <a:p>
            <a:r>
              <a:t>Then design and implementation follow the agreed file boundaries</a:t>
            </a:r>
          </a:p>
          <a:p/>
          <a:p>
            <a:r>
              <a:t>Run the app and validate it</a:t>
            </a:r>
          </a:p>
          <a:p>
            <a:r>
              <a:t>If a check fails, send it back to the specialist who owns that file</a:t>
            </a:r>
          </a:p>
          <a:p>
            <a:r>
              <a:t>Open the dashboard at a narrow and a wide viewport</a:t>
            </a:r>
          </a:p>
          <a:p>
            <a:r>
              <a:t>Check the browser console before writing the handoff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validation command</a:t>
            </a:r>
          </a:p>
          <a:p>
            <a:r>
              <a:t>Check everyone can explain what it actually checks</a:t>
            </a:r>
          </a:p>
          <a:p>
            <a:r>
              <a:t>Files, JSON fields, source wiring, and launch configuration</a:t>
            </a:r>
          </a:p>
          <a:p/>
          <a:p>
            <a:r>
              <a:t>It does not execute the browser JavaScript</a:t>
            </a:r>
          </a:p>
          <a:p>
            <a:r>
              <a:t>A passing result is not proof that the dashboard works</a:t>
            </a:r>
          </a:p>
          <a:p>
            <a:r>
              <a:t>Open the app, check the project cards, resize the window, and inspect the console</a:t>
            </a:r>
          </a:p>
          <a:p>
            <a:r>
              <a:t>Record those checks in the final handoff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we will keep state between steps and check the result</a:t>
            </a:r>
          </a:p>
          <a:p>
            <a:r>
              <a:t>More memory is not always better</a:t>
            </a:r>
          </a:p>
          <a:p>
            <a:r>
              <a:t>Keep the facts that help us continue or recover</a:t>
            </a:r>
          </a:p>
          <a:p>
            <a:r>
              <a:t>Make sure we know where they came from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Short-term context is for the current task</a:t>
            </a:r>
          </a:p>
          <a:p>
            <a:r>
              <a:t>Long-term memory is for stable, validated information</a:t>
            </a:r>
          </a:p>
          <a:p>
            <a:r>
              <a:t>External state gives us something another person or job can inspect</a:t>
            </a:r>
          </a:p>
          <a:p/>
          <a:p>
            <a:r>
              <a:t>Ask what should never be retained</a:t>
            </a:r>
          </a:p>
          <a:p>
            <a:r>
              <a:t>Secrets are one example</a:t>
            </a:r>
          </a:p>
          <a:p>
            <a:r>
              <a:t>Also watch for stale context or an assumption being saved as a fact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state_store commands from the lab</a:t>
            </a:r>
          </a:p>
          <a:p>
            <a:r>
              <a:t>Open the event log, then the snapshot</a:t>
            </a:r>
          </a:p>
          <a:p>
            <a:r>
              <a:t>Find the sequence, source, timestamp, and hash</a:t>
            </a:r>
          </a:p>
          <a:p/>
          <a:p>
            <a:r>
              <a:t>The sequence tells us the order</a:t>
            </a:r>
          </a:p>
          <a:p>
            <a:r>
              <a:t>The source tells us who produced the event</a:t>
            </a:r>
          </a:p>
          <a:p>
            <a:r>
              <a:t>The hash helps detect a change</a:t>
            </a:r>
          </a:p>
          <a:p>
            <a:r>
              <a:t>Keep that provenance when creating a snapshot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checks have a definite answer</a:t>
            </a:r>
          </a:p>
          <a:p>
            <a:r>
              <a:t>Does the JSON parse? Does the file exist? Do the hashes match?</a:t>
            </a:r>
          </a:p>
          <a:p>
            <a:r>
              <a:t>Other questions need judgment</a:t>
            </a:r>
          </a:p>
          <a:p>
            <a:r>
              <a:t>Is this useful to the user? Is the tradeoff acceptable?</a:t>
            </a:r>
          </a:p>
          <a:p/>
          <a:p>
            <a:r>
              <a:t>A model score does not replace tests or required review</a:t>
            </a:r>
          </a:p>
          <a:p>
            <a:r>
              <a:t>If a gate fails, report it as a failed outcome</a:t>
            </a:r>
          </a:p>
          <a:p>
            <a:r>
              <a:t>Do not hide it in the handoff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will put the controls together</a:t>
            </a:r>
          </a:p>
          <a:p>
            <a:r>
              <a:t>Permissions, approval, evidence, and recovery</a:t>
            </a:r>
          </a:p>
          <a:p>
            <a:r>
              <a:t>Instructions in a prompt are useful, but they are not enforcement</a:t>
            </a:r>
          </a:p>
          <a:p>
            <a:r>
              <a:t>Use GitHub controls for the boundaries that must hold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reading and summarizing</a:t>
            </a:r>
          </a:p>
          <a:p>
            <a:r>
              <a:t>Then proposing a change, opening a pull request, and deploying</a:t>
            </a:r>
          </a:p>
          <a:p>
            <a:r>
              <a:t>The consequences increase as we move down the slide</a:t>
            </a:r>
          </a:p>
          <a:p/>
          <a:p>
            <a:r>
              <a:t>Ask learners for one task at each level</a:t>
            </a:r>
          </a:p>
          <a:p>
            <a:r>
              <a:t>Where would they require an approval?</a:t>
            </a:r>
          </a:p>
          <a:p>
            <a:r>
              <a:t>Higher risk needs narrower authority and a clearer recovery path</a:t>
            </a:r>
          </a:p>
          <a:p>
            <a:r>
              <a:t>Some actions should simply be denied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request and its permissions</a:t>
            </a:r>
          </a:p>
          <a:p>
            <a:r>
              <a:t>This sample requests a pull request with a protected-branch flag</a:t>
            </a:r>
          </a:p>
          <a:p>
            <a:r>
              <a:t>The permissions are narrow, but the required approval is missing</a:t>
            </a:r>
          </a:p>
          <a:p/>
          <a:p>
            <a:r>
              <a:t>Run the governance example</a:t>
            </a:r>
          </a:p>
          <a:p>
            <a:r>
              <a:t>The result is approval_required, not execution</a:t>
            </a:r>
          </a:p>
          <a:p>
            <a:r>
              <a:t>Find the audit record and the recovery reference</a:t>
            </a:r>
          </a:p>
          <a:p>
            <a:r>
              <a:t>We need to know who made the decision and which policy was used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Bring the pieces together</a:t>
            </a:r>
          </a:p>
          <a:p>
            <a:r>
              <a:t>Submit the artifacts so someone else can inspect and reproduce the work</a:t>
            </a:r>
          </a:p>
          <a:p>
            <a:r>
              <a:t>Not just a message saying the agent succeeded</a:t>
            </a:r>
          </a:p>
          <a:p/>
          <a:p>
            <a:r>
              <a:t>Use the rubric: bounded, reproducible, observable, reversible</a:t>
            </a:r>
          </a:p>
          <a:p>
            <a:r>
              <a:t>Check the failure path as well as the successful run</a:t>
            </a:r>
          </a:p>
          <a:p>
            <a:r>
              <a:t>Make sure the approval and rollback evidence are included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runnable example for each domain</a:t>
            </a:r>
          </a:p>
          <a:p>
            <a:r>
              <a:t>The contract and handoff for architecture</a:t>
            </a:r>
          </a:p>
          <a:p>
            <a:r>
              <a:t>The tool boundary for permissions</a:t>
            </a:r>
          </a:p>
          <a:p>
            <a:r>
              <a:t>The event log for state, and the fan-in workflow for coordination</a:t>
            </a:r>
          </a:p>
          <a:p/>
          <a:p>
            <a:r>
              <a:t>Open docs/source-coverage.md</a:t>
            </a:r>
          </a:p>
          <a:p>
            <a:r>
              <a:t>It maps the 52 Microsoft Learn units to the workshop material</a:t>
            </a:r>
          </a:p>
          <a:p>
            <a:r>
              <a:t>Use that map to find the areas that need more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one action they would never allow without human approval</a:t>
            </a:r>
          </a:p>
          <a:p>
            <a:r>
              <a:t>Take a few examples from the room</a:t>
            </a:r>
          </a:p>
          <a:p/>
          <a:p>
            <a:r>
              <a:t>We want agents we can inspect, interrupt, and recover</a:t>
            </a:r>
          </a:p>
          <a:p>
            <a:r>
              <a:t>Not just agents that work on the happy path</a:t>
            </a:r>
          </a:p>
          <a:p>
            <a:r>
              <a:t>Point learners back to the labs and the study map</a:t>
            </a:r>
          </a:p>
          <a:p>
            <a:r>
              <a:t>Field any final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titl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ithub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51560"/>
            <a:ext cx="301752" cy="2891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1042415"/>
            <a:ext cx="201168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Roboto Mono"/>
              </a:defRPr>
            </a:pPr>
            <a:r>
              <a:t>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987552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Helvetica Neue"/>
              </a:defRPr>
            </a:pPr>
            <a:r>
              <a:t>Agentic AI</a:t>
            </a:r>
            <a:br/>
            <a:r>
              <a:t>Developer</a:t>
            </a:r>
            <a:br/>
            <a:r>
              <a:t>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9875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Helvetica Neue"/>
              </a:defRPr>
            </a:pPr>
            <a:r>
              <a:t>From prompts to a governed, observable agentic SDLC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Roboto Mono"/>
              </a:defRPr>
            </a:pPr>
            <a:r>
              <a:t>6 modules  |  2 workflows  |  7 labs  |  1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44768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Roboto Mono"/>
              </a:defRPr>
            </a:pPr>
            <a:r>
              <a:t>Workshop companion for GH-600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What learners will be able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627632"/>
            <a:ext cx="34747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64792"/>
            <a:ext cx="2971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04872"/>
            <a:ext cx="29718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Define goals, tools, state, policies, stop conditions, and escalation.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27632"/>
            <a:ext cx="34747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1764792"/>
            <a:ext cx="2971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404872"/>
            <a:ext cx="29718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Exchange versioned artifacts between planning and implementation.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27632"/>
            <a:ext cx="34747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64792"/>
            <a:ext cx="2971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404872"/>
            <a:ext cx="29718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Apply allowlists, least privilege, approvals, and protected paths.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776472"/>
            <a:ext cx="34747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13632"/>
            <a:ext cx="2971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ORCHESTRATE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553712"/>
            <a:ext cx="29718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Coordinate specialists with concurrency, fan-in, and recovery.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5696" y="3776472"/>
            <a:ext cx="34747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3913632"/>
            <a:ext cx="2971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4553712"/>
            <a:ext cx="29718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Persist state and enforce deterministic quality gates.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776472"/>
            <a:ext cx="34747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913632"/>
            <a:ext cx="2971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OPERATE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553712"/>
            <a:ext cx="29718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Audit, observe, roll back, and improve agent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A 4 hour 40 minute learning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914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0366D6"/>
                </a:solidFill>
                <a:latin typeface="Helvetica Neue"/>
              </a:defRPr>
            </a:pPr>
            <a:r>
              <a:t>00:00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1554480"/>
            <a:ext cx="8869680" cy="484632"/>
          </a:xfrm>
          <a:prstGeom prst="rect">
            <a:avLst/>
          </a:prstGeom>
          <a:solidFill>
            <a:srgbClr val="F6F8FA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36776"/>
            <a:ext cx="5852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636776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31136"/>
            <a:ext cx="914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6F42C1"/>
                </a:solidFill>
                <a:latin typeface="Helvetica Neue"/>
              </a:defRPr>
            </a:pPr>
            <a:r>
              <a:t>00:20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212848"/>
            <a:ext cx="8869680" cy="484632"/>
          </a:xfrm>
          <a:prstGeom prst="rect">
            <a:avLst/>
          </a:prstGeom>
          <a:solidFill>
            <a:srgbClr val="F6F8FA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295144"/>
            <a:ext cx="5852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95144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35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9504"/>
            <a:ext cx="914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735C0F"/>
                </a:solidFill>
                <a:latin typeface="Helvetica Neue"/>
              </a:defRPr>
            </a:pPr>
            <a:r>
              <a:t>00:55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2871216"/>
            <a:ext cx="8869680" cy="484632"/>
          </a:xfrm>
          <a:prstGeom prst="rect">
            <a:avLst/>
          </a:prstGeom>
          <a:solidFill>
            <a:srgbClr val="F6F8FA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953512"/>
            <a:ext cx="5852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Tools +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953512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40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47872"/>
            <a:ext cx="914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22863A"/>
                </a:solidFill>
                <a:latin typeface="Helvetica Neue"/>
              </a:defRPr>
            </a:pPr>
            <a:r>
              <a:t>01:35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3529584"/>
            <a:ext cx="8869680" cy="484632"/>
          </a:xfrm>
          <a:prstGeom prst="rect">
            <a:avLst/>
          </a:prstGeom>
          <a:solidFill>
            <a:srgbClr val="F6F8FA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611879"/>
            <a:ext cx="5852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611879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75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914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0366D6"/>
                </a:solidFill>
                <a:latin typeface="Helvetica Neue"/>
              </a:defRPr>
            </a:pPr>
            <a:r>
              <a:t>02:50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4187952"/>
            <a:ext cx="8869680" cy="484632"/>
          </a:xfrm>
          <a:prstGeom prst="rect">
            <a:avLst/>
          </a:prstGeom>
          <a:solidFill>
            <a:srgbClr val="F6F8FA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270248"/>
            <a:ext cx="5852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Memory +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2702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40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64607"/>
            <a:ext cx="914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CB2431"/>
                </a:solidFill>
                <a:latin typeface="Helvetica Neue"/>
              </a:defRPr>
            </a:pPr>
            <a:r>
              <a:t>03:30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4846320"/>
            <a:ext cx="8869680" cy="484632"/>
          </a:xfrm>
          <a:prstGeom prst="rect">
            <a:avLst/>
          </a:prstGeom>
          <a:solidFill>
            <a:srgbClr val="F6F8FA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928616"/>
            <a:ext cx="5852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928616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40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522975"/>
            <a:ext cx="914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6F42C1"/>
                </a:solidFill>
                <a:latin typeface="Helvetica Neue"/>
              </a:defRPr>
            </a:pPr>
            <a:r>
              <a:t>04:10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0200" y="5504688"/>
            <a:ext cx="8869680" cy="484632"/>
          </a:xfrm>
          <a:prstGeom prst="rect">
            <a:avLst/>
          </a:prstGeom>
          <a:solidFill>
            <a:srgbClr val="F6F8FA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5586983"/>
            <a:ext cx="5852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Capstone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586983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30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GH-600 certification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600200"/>
            <a:ext cx="5257800" cy="11704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801368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Architecture + SDLC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773936"/>
            <a:ext cx="960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800" b="1">
                <a:solidFill>
                  <a:srgbClr val="0366D6"/>
                </a:solidFill>
                <a:latin typeface="Helvetica Neue"/>
              </a:defRPr>
            </a:pPr>
            <a:r>
              <a:t>15–20%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" y="2359152"/>
            <a:ext cx="4572000" cy="109728"/>
          </a:xfrm>
          <a:prstGeom prst="rect">
            <a:avLst/>
          </a:prstGeom>
          <a:solidFill>
            <a:srgbClr val="D1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1832" y="2359152"/>
            <a:ext cx="3657600" cy="109728"/>
          </a:xfrm>
          <a:prstGeom prst="rect">
            <a:avLst/>
          </a:prstGeom>
          <a:solidFill>
            <a:srgbClr val="03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82512" y="1600200"/>
            <a:ext cx="5257800" cy="11704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01368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Tools +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0152" y="1773936"/>
            <a:ext cx="960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800" b="1">
                <a:solidFill>
                  <a:srgbClr val="6F42C1"/>
                </a:solidFill>
                <a:latin typeface="Helvetica Neue"/>
              </a:defRPr>
            </a:pPr>
            <a:r>
              <a:t>20–25%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1112" y="2359152"/>
            <a:ext cx="4572000" cy="109728"/>
          </a:xfrm>
          <a:prstGeom prst="rect">
            <a:avLst/>
          </a:prstGeom>
          <a:solidFill>
            <a:srgbClr val="D1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11112" y="2359152"/>
            <a:ext cx="4572000" cy="10972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3127248"/>
            <a:ext cx="5257800" cy="11704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328416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Memory +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300984"/>
            <a:ext cx="960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800" b="1">
                <a:solidFill>
                  <a:srgbClr val="735C0F"/>
                </a:solidFill>
                <a:latin typeface="Helvetica Neue"/>
              </a:defRPr>
            </a:pPr>
            <a:r>
              <a:t>10–15%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" y="3886200"/>
            <a:ext cx="4572000" cy="109728"/>
          </a:xfrm>
          <a:prstGeom prst="rect">
            <a:avLst/>
          </a:prstGeom>
          <a:solidFill>
            <a:srgbClr val="D1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" y="3886200"/>
            <a:ext cx="2743200" cy="109728"/>
          </a:xfrm>
          <a:prstGeom prst="rect">
            <a:avLst/>
          </a:prstGeom>
          <a:solidFill>
            <a:srgbClr val="735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82512" y="3127248"/>
            <a:ext cx="5257800" cy="11704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3328416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Evaluation +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0152" y="3300984"/>
            <a:ext cx="960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800" b="1">
                <a:solidFill>
                  <a:srgbClr val="22863A"/>
                </a:solidFill>
                <a:latin typeface="Helvetica Neue"/>
              </a:defRPr>
            </a:pPr>
            <a:r>
              <a:t>15–20%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11112" y="3886200"/>
            <a:ext cx="4572000" cy="109728"/>
          </a:xfrm>
          <a:prstGeom prst="rect">
            <a:avLst/>
          </a:prstGeom>
          <a:solidFill>
            <a:srgbClr val="D1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11112" y="3886200"/>
            <a:ext cx="3657600" cy="109728"/>
          </a:xfrm>
          <a:prstGeom prst="rect">
            <a:avLst/>
          </a:prstGeom>
          <a:solidFill>
            <a:srgbClr val="22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4654296"/>
            <a:ext cx="5257800" cy="11704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85546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Multi-agent coordination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4828032"/>
            <a:ext cx="960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800" b="1">
                <a:solidFill>
                  <a:srgbClr val="0366D6"/>
                </a:solidFill>
                <a:latin typeface="Helvetica Neue"/>
              </a:defRPr>
            </a:pPr>
            <a:r>
              <a:t>15–20%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" y="5413248"/>
            <a:ext cx="4572000" cy="109728"/>
          </a:xfrm>
          <a:prstGeom prst="rect">
            <a:avLst/>
          </a:prstGeom>
          <a:solidFill>
            <a:srgbClr val="D1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1832" y="5413248"/>
            <a:ext cx="3657600" cy="109728"/>
          </a:xfrm>
          <a:prstGeom prst="rect">
            <a:avLst/>
          </a:prstGeom>
          <a:solidFill>
            <a:srgbClr val="03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82512" y="4654296"/>
            <a:ext cx="5257800" cy="11704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485546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Guardrails + accountability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0152" y="4828032"/>
            <a:ext cx="960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800" b="1">
                <a:solidFill>
                  <a:srgbClr val="CB2431"/>
                </a:solidFill>
                <a:latin typeface="Helvetica Neue"/>
              </a:defRPr>
            </a:pPr>
            <a:r>
              <a:t>10–15%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11112" y="5413248"/>
            <a:ext cx="4572000" cy="109728"/>
          </a:xfrm>
          <a:prstGeom prst="rect">
            <a:avLst/>
          </a:prstGeom>
          <a:solidFill>
            <a:srgbClr val="D1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11112" y="5413248"/>
            <a:ext cx="2743200" cy="109728"/>
          </a:xfrm>
          <a:prstGeom prst="rect">
            <a:avLst/>
          </a:prstGeom>
          <a:solidFill>
            <a:srgbClr val="CB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The six-module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993392"/>
            <a:ext cx="1569720" cy="1143000"/>
          </a:xfrm>
          <a:prstGeom prst="rect">
            <a:avLst/>
          </a:prstGeom>
          <a:solidFill>
            <a:srgbClr val="F6F8FA"/>
          </a:solidFill>
          <a:ln w="12700"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103120"/>
            <a:ext cx="1478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1</a:t>
            </a:r>
            <a:br/>
            <a:r>
              <a:t>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696" y="1993392"/>
            <a:ext cx="1569720" cy="1143000"/>
          </a:xfrm>
          <a:prstGeom prst="rect">
            <a:avLst/>
          </a:prstGeom>
          <a:solidFill>
            <a:srgbClr val="F6F8FA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6416" y="2103120"/>
            <a:ext cx="1478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2</a:t>
            </a:r>
            <a:br/>
            <a:r>
              <a:t>Architecture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64664" y="2564892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383024" y="1993392"/>
            <a:ext cx="1569720" cy="1143000"/>
          </a:xfrm>
          <a:prstGeom prst="rect">
            <a:avLst/>
          </a:prstGeom>
          <a:solidFill>
            <a:srgbClr val="F6F8FA"/>
          </a:solidFill>
          <a:ln w="12700">
            <a:solidFill>
              <a:srgbClr val="735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8744" y="2103120"/>
            <a:ext cx="1478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3</a:t>
            </a:r>
            <a:br/>
            <a:r>
              <a:t>Tools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26992" y="2564892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245351" y="1993392"/>
            <a:ext cx="1569720" cy="1143000"/>
          </a:xfrm>
          <a:prstGeom prst="rect">
            <a:avLst/>
          </a:prstGeom>
          <a:solidFill>
            <a:srgbClr val="F6F8FA"/>
          </a:solidFill>
          <a:ln w="12700">
            <a:solidFill>
              <a:srgbClr val="22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1" y="2103120"/>
            <a:ext cx="1478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4</a:t>
            </a:r>
            <a:br/>
            <a:r>
              <a:t>Orchestration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2564892"/>
            <a:ext cx="219455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107680" y="1993392"/>
            <a:ext cx="1569720" cy="1143000"/>
          </a:xfrm>
          <a:prstGeom prst="rect">
            <a:avLst/>
          </a:prstGeom>
          <a:solidFill>
            <a:srgbClr val="F6F8FA"/>
          </a:solidFill>
          <a:ln w="12700"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3400" y="2103120"/>
            <a:ext cx="1478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5</a:t>
            </a:r>
            <a:br/>
            <a:r>
              <a:t>Memory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51647" y="2564892"/>
            <a:ext cx="219457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970008" y="1993392"/>
            <a:ext cx="1569720" cy="1143000"/>
          </a:xfrm>
          <a:prstGeom prst="rect">
            <a:avLst/>
          </a:prstGeom>
          <a:solidFill>
            <a:srgbClr val="F6F8FA"/>
          </a:solidFill>
          <a:ln w="12700">
            <a:solidFill>
              <a:srgbClr val="CB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5728" y="2103120"/>
            <a:ext cx="1478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6</a:t>
            </a:r>
            <a:br/>
            <a:r>
              <a:t>Governance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13976" y="2564892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388620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Vocabulary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88620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Contracts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8620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Authority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88620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Coordination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88620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Continuity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886200"/>
            <a:ext cx="1554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586069"/>
                </a:solidFill>
                <a:latin typeface="Helvetica Neue"/>
              </a:defRPr>
            </a:pPr>
            <a:r>
              <a:t>Accountability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892040"/>
            <a:ext cx="9966960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22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093208"/>
            <a:ext cx="9509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24292E"/>
                </a:solidFill>
                <a:latin typeface="Helvetica Neue"/>
              </a:defRPr>
            </a:pPr>
            <a:r>
              <a:t>Every module produces an artifact that the next module can inspect.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8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8368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83564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Foundations of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663440"/>
            <a:ext cx="107899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0">
                <a:solidFill>
                  <a:srgbClr val="FFFFFF"/>
                </a:solidFill>
                <a:latin typeface="Helvetica Neue"/>
              </a:defRPr>
            </a:pPr>
            <a:r>
              <a:t>Move from one-shot assistance to bounded systems that plan, act, observe, evaluate, and escalate.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Helvetica Neue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377440"/>
            <a:ext cx="457200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400" b="1">
                <a:solidFill>
                  <a:srgbClr val="24292E"/>
                </a:solidFill>
                <a:latin typeface="Helvetica Neue"/>
              </a:defRPr>
            </a:pPr>
            <a:r>
              <a:t>Assistant versus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24292E"/>
                </a:solidFill>
                <a:latin typeface="Helvetica Neue"/>
              </a:defRPr>
            </a:pPr>
            <a:r>
              <a:t>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Responds to a prompt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Proposes content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Human initiates each step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Usually has limited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56616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24292E"/>
                </a:solidFill>
                <a:latin typeface="Helvetica Neue"/>
              </a:defRPr>
            </a:pPr>
            <a: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Pursues a goal and calls tools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Observes results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Maintains state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Stops or escalates by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The bounded agent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905609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29968"/>
            <a:ext cx="181416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GOAL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9737" y="1920240"/>
            <a:ext cx="1905609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5457" y="2029968"/>
            <a:ext cx="181416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PLAN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73705" y="2414016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27955" y="1920240"/>
            <a:ext cx="1905609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735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3675" y="2029968"/>
            <a:ext cx="181416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71923" y="2414016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26172" y="1920240"/>
            <a:ext cx="1905609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1892" y="2029968"/>
            <a:ext cx="181416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OBSERVE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70140" y="2414016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524390" y="1920240"/>
            <a:ext cx="1905609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22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0110" y="2029968"/>
            <a:ext cx="181416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EVALUATE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68358" y="2414016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926080" y="3794760"/>
            <a:ext cx="6309360" cy="960120"/>
          </a:xfrm>
          <a:prstGeom prst="rect">
            <a:avLst/>
          </a:prstGeom>
          <a:solidFill>
            <a:srgbClr val="F6F8FA"/>
          </a:solidFill>
          <a:ln w="12700">
            <a:solidFill>
              <a:srgbClr val="CB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4078224"/>
            <a:ext cx="5852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900" b="1">
                <a:solidFill>
                  <a:srgbClr val="CB2431"/>
                </a:solidFill>
                <a:latin typeface="Helvetica Neue"/>
              </a:defRPr>
            </a:pPr>
            <a:r>
              <a:t>STOP / RETRY / RE-PLAN / ESCALATE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57800"/>
            <a:ext cx="9966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0">
                <a:solidFill>
                  <a:srgbClr val="586069"/>
                </a:solidFill>
                <a:latin typeface="Helvetica Neue"/>
              </a:defRPr>
            </a:pPr>
            <a:r>
              <a:t>Policy surrounds the loop: scope • permissions • timeout • evidence • human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GitHub is the system of record and control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3511296" cy="16459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64792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04872"/>
            <a:ext cx="3008376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Intent + acceptance criteria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627632"/>
            <a:ext cx="3511296" cy="16459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764792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404872"/>
            <a:ext cx="3008376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Isolated execution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02752" y="1627632"/>
            <a:ext cx="3511296" cy="16459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7072" y="1764792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PULL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04872"/>
            <a:ext cx="3008376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Reviewable change 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685032"/>
            <a:ext cx="3511296" cy="16459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22192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62272"/>
            <a:ext cx="3008376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Deterministic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3685032"/>
            <a:ext cx="3511296" cy="16459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3822192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462272"/>
            <a:ext cx="3008376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Durable handoff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02752" y="3685032"/>
            <a:ext cx="3511296" cy="16459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3822192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RULESET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4462272"/>
            <a:ext cx="3008376" cy="7772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Enforced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Agent contract: make authority explicit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6537960" cy="45262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09928"/>
            <a:ext cx="6172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366D6"/>
                </a:solidFill>
                <a:latin typeface="Helvetica Neue"/>
              </a:defRPr>
            </a:pPr>
            <a:r>
              <a:t>AGENT-CONTRACT.JSON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6172200" cy="3995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4292E"/>
                </a:solidFill>
                <a:latin typeface="Roboto Mono"/>
              </a:defRPr>
            </a:pPr>
            <a:r>
              <a:t>{</a:t>
            </a:r>
            <a:br/>
            <a:r>
              <a:t>  "objective": "Generate a project health report",</a:t>
            </a:r>
            <a:br/>
            <a:r>
              <a:t>  "inputs": ["project metadata"],</a:t>
            </a:r>
            <a:br/>
            <a:r>
              <a:t>  "allowed_tools": ["repository.read", "artifact.write"],</a:t>
            </a:r>
            <a:br/>
            <a:r>
              <a:t>  "forbidden": ["push to protected branch", "read secrets"],</a:t>
            </a:r>
            <a:br/>
            <a:r>
              <a:t>  "success": ["valid JSON", "SHA-256 recorded"],</a:t>
            </a:r>
            <a:br/>
            <a:r>
              <a:t>  "timeout_minutes": 10,</a:t>
            </a:r>
            <a:br/>
            <a:r>
              <a:t>  "escalate_when": ["risk is high", "validation fails"]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1600200"/>
            <a:ext cx="3840480" cy="192024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737360"/>
            <a:ext cx="3337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377440"/>
            <a:ext cx="333756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Write a bounded contract, generate a plan artifact, and identify one field that would be unsafe to leave implicit.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3822191"/>
            <a:ext cx="3840480" cy="1874519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3959352"/>
            <a:ext cx="33375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COMPLETION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599432"/>
            <a:ext cx="333756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Point to objective, tools, stop condition, and escalation in an inspectable artifact.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8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8368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83564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Agent Architecture and SDLC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663440"/>
            <a:ext cx="107899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0">
                <a:solidFill>
                  <a:srgbClr val="FFFFFF"/>
                </a:solidFill>
                <a:latin typeface="Helvetica Neue"/>
              </a:defRPr>
            </a:pPr>
            <a:r>
              <a:t>Separate responsibilities and connect them through versioned, validated handoff contracts.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Helvetica Neue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Single responsibility, explicit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749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6F42C1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4251959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5720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Turns intent into ordered work</a:t>
            </a:r>
            <a:br/>
            <a:r>
              <a:t>Owns plan.json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645920"/>
            <a:ext cx="50749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0366D6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783080"/>
            <a:ext cx="4251959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IMPLEMENTER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23160"/>
            <a:ext cx="45720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Creates requested payload</a:t>
            </a:r>
            <a:br/>
            <a:r>
              <a:t>Owns health-report.json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94760"/>
            <a:ext cx="50749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22863A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4251959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VALIDATOR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45720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Checks contract + evidence</a:t>
            </a:r>
            <a:br/>
            <a:r>
              <a:t>Owns validation.json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794760"/>
            <a:ext cx="50749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97764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735C0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931920"/>
            <a:ext cx="4251959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HUMAN 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572000"/>
            <a:ext cx="45720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Approves consequential changes</a:t>
            </a:r>
            <a:br/>
            <a:r>
              <a:t>Owns the decision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A versioned plan is an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54480"/>
            <a:ext cx="7040880" cy="470916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64207"/>
            <a:ext cx="6675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366D6"/>
                </a:solidFill>
                <a:latin typeface="Helvetica Neue"/>
              </a:defRPr>
            </a:pPr>
            <a:r>
              <a:t>PLAN.JSON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65960"/>
            <a:ext cx="6675120" cy="4178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4292E"/>
                </a:solidFill>
                <a:latin typeface="Roboto Mono"/>
              </a:defRPr>
            </a:pPr>
            <a:r>
              <a:t>{</a:t>
            </a:r>
            <a:br/>
            <a:r>
              <a:t>  "schema_version": "1.0",</a:t>
            </a:r>
            <a:br/>
            <a:r>
              <a:t>  "request_id": "demo-plan-001",</a:t>
            </a:r>
            <a:br/>
            <a:r>
              <a:t>  "request_hash": "16c8…d421",</a:t>
            </a:r>
            <a:br/>
            <a:r>
              <a:t>  "project_metadata": {</a:t>
            </a:r>
            <a:br/>
            <a:r>
              <a:t>    "name": "agentic-sdlc-demo",</a:t>
            </a:r>
            <a:br/>
            <a:r>
              <a:t>    "status": "healthy",</a:t>
            </a:r>
            <a:br/>
            <a:r>
              <a:t>    "owner": "platform-engineering"</a:t>
            </a:r>
            <a:br/>
            <a:r>
              <a:t>  },</a:t>
            </a:r>
            <a:br/>
            <a:r>
              <a:t>  "acceptance_criteria": [</a:t>
            </a:r>
            <a:br/>
            <a:r>
              <a:t>    "The report contains project name and status",</a:t>
            </a:r>
            <a:br/>
            <a:r>
              <a:t>    "The report is valid JSON"</a:t>
            </a:r>
            <a:br/>
            <a:r>
              <a:t>  ],</a:t>
            </a:r>
            <a:br/>
            <a:r>
              <a:t>  "handoff": {</a:t>
            </a:r>
            <a:br/>
            <a:r>
              <a:t>    "producer": "deterministic-planner",</a:t>
            </a:r>
            <a:br/>
            <a:r>
              <a:t>    "consumer": "deterministic-implementer"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1737360"/>
            <a:ext cx="3474720" cy="420624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Stable schema version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Canonical request hash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Explicit producer + consumer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Acceptance criteria travel with work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Risk determines human approval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Concrete plan → implement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7635240" cy="48463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27631"/>
            <a:ext cx="726947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366D6"/>
                </a:solidFill>
                <a:latin typeface="Helvetica Neue"/>
              </a:defRPr>
            </a:pPr>
            <a:r>
              <a:t>.GITHUB/WORKFLOWS/PLAN-IMPLEMENT.YML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29384"/>
            <a:ext cx="7269479" cy="431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40" b="0">
                <a:solidFill>
                  <a:srgbClr val="24292E"/>
                </a:solidFill>
                <a:latin typeface="Roboto Mono"/>
              </a:defRPr>
            </a:pPr>
            <a:r>
              <a:t>jobs:</a:t>
            </a:r>
            <a:br/>
            <a:r>
              <a:t>  plan: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run: |</a:t>
            </a:r>
            <a:br/>
            <a:r>
              <a:t>          python3 scripts/plan/generate_plan.py \</a:t>
            </a:r>
            <a:br/>
            <a:r>
              <a:t>            --request examples/plan_request.json \</a:t>
            </a:r>
            <a:br/>
            <a:r>
              <a:t>            --output artifacts/plan/plan.json</a:t>
            </a:r>
            <a:br/>
            <a:r>
              <a:t>      - uses: actions/upload-artifact@v4</a:t>
            </a:r>
            <a:br/>
            <a:r>
              <a:t>        with:</a:t>
            </a:r>
            <a:br/>
            <a:r>
              <a:t>          name: agent-plan</a:t>
            </a:r>
            <a:br/>
            <a:r>
              <a:t>          path: artifacts/plan/plan.json</a:t>
            </a:r>
            <a:br/>
            <a:br/>
            <a:r>
              <a:t>  implement:</a:t>
            </a:r>
            <a:br/>
            <a:r>
              <a:t>    needs: plan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actions/download-artifact@v4</a:t>
            </a:r>
            <a:br/>
            <a:r>
              <a:t>        with:</a:t>
            </a:r>
            <a:br/>
            <a:r>
              <a:t>          name: agent-plan</a:t>
            </a:r>
            <a:br/>
            <a:r>
              <a:t>          path: artifacts/plan</a:t>
            </a:r>
            <a:br/>
            <a:r>
              <a:t>      - run: |</a:t>
            </a:r>
            <a:br/>
            <a:r>
              <a:t>          python3 scripts/implement/apply_plan.py \</a:t>
            </a:r>
            <a:br/>
            <a:r>
              <a:t>            --plan artifacts/plan/plan.json \</a:t>
            </a:r>
            <a:br/>
            <a:r>
              <a:t>            --output artifacts/implementation/implementation.json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13648" y="1600200"/>
            <a:ext cx="2926080" cy="20116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87968" y="1737360"/>
            <a:ext cx="2423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NOT A PLACEHOLDER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377440"/>
            <a:ext cx="242316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The consumer writes health-report.json and records its SHA-256 digest and byte size.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13648" y="3858768"/>
            <a:ext cx="2926080" cy="18288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3995928"/>
            <a:ext cx="2423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4636008"/>
            <a:ext cx="242316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Jobs exchange immutable artifacts instead of hidden process memory.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Evidence: payload + integrity manifest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2489454" cy="1051560"/>
          </a:xfrm>
          <a:prstGeom prst="rect">
            <a:avLst/>
          </a:prstGeom>
          <a:solidFill>
            <a:srgbClr val="F6F8FA"/>
          </a:solidFill>
          <a:ln w="12700"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23980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request.json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67862" y="1828800"/>
            <a:ext cx="2489454" cy="1051560"/>
          </a:xfrm>
          <a:prstGeom prst="rect">
            <a:avLst/>
          </a:prstGeom>
          <a:solidFill>
            <a:srgbClr val="F6F8FA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13582" y="1938528"/>
            <a:ext cx="23980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plan.json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11830" y="2354580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249924" y="1828800"/>
            <a:ext cx="2489454" cy="1051560"/>
          </a:xfrm>
          <a:prstGeom prst="rect">
            <a:avLst/>
          </a:prstGeom>
          <a:solidFill>
            <a:srgbClr val="F6F8FA"/>
          </a:solidFill>
          <a:ln w="12700">
            <a:solidFill>
              <a:srgbClr val="22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5644" y="1938528"/>
            <a:ext cx="23980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health-report.json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93892" y="2354580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031986" y="1828800"/>
            <a:ext cx="2489454" cy="1051560"/>
          </a:xfrm>
          <a:prstGeom prst="rect">
            <a:avLst/>
          </a:prstGeom>
          <a:solidFill>
            <a:srgbClr val="F6F8FA"/>
          </a:solidFill>
          <a:ln w="12700">
            <a:solidFill>
              <a:srgbClr val="735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7706" y="1938528"/>
            <a:ext cx="23980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implementation.json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5954" y="2354580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3657600"/>
            <a:ext cx="4937760" cy="20116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67328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366D6"/>
                </a:solidFill>
                <a:latin typeface="Helvetica Neue"/>
              </a:defRPr>
            </a:pPr>
            <a:r>
              <a:t>IMPLEMENTATION.JSON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80"/>
            <a:ext cx="457200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Roboto Mono"/>
              </a:defRPr>
            </a:pPr>
            <a:r>
              <a:t>"generated_files": [</a:t>
            </a:r>
            <a:br/>
            <a:r>
              <a:t>  {</a:t>
            </a:r>
            <a:br/>
            <a:r>
              <a:t>    "path": "health-report.json",</a:t>
            </a:r>
            <a:br/>
            <a:r>
              <a:t>    "sha256": "cc7e6b…ec7c",</a:t>
            </a:r>
            <a:br/>
            <a:r>
              <a:t>    "bytes": 742</a:t>
            </a:r>
            <a:br/>
            <a:r>
              <a:t>  }</a:t>
            </a:r>
            <a:br/>
            <a:r>
              <a:t>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11880"/>
            <a:ext cx="4572000" cy="219456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201168" indent="-164592">
              <a:spcAft>
                <a:spcPts val="10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Artifact exists</a:t>
            </a:r>
          </a:p>
          <a:p>
            <a:pPr marL="201168" indent="-164592">
              <a:spcAft>
                <a:spcPts val="10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JSON parses</a:t>
            </a:r>
          </a:p>
          <a:p>
            <a:pPr marL="201168" indent="-164592">
              <a:spcAft>
                <a:spcPts val="10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Required fields are present</a:t>
            </a:r>
          </a:p>
          <a:p>
            <a:pPr marL="201168" indent="-164592">
              <a:spcAft>
                <a:spcPts val="10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Digest matches exact bytes</a:t>
            </a:r>
          </a:p>
          <a:p>
            <a:pPr marL="201168" indent="-164592">
              <a:spcAft>
                <a:spcPts val="10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Protected paths remain untouched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Pull-request governance belongs in 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45920"/>
            <a:ext cx="3511296" cy="16276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23160"/>
            <a:ext cx="3008376" cy="7589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Required context and test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645920"/>
            <a:ext cx="3511296" cy="16276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783080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423160"/>
            <a:ext cx="3008376" cy="7589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Objective machine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02752" y="1645920"/>
            <a:ext cx="3511296" cy="16276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7072" y="1783080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CODEOWNERS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23160"/>
            <a:ext cx="3008376" cy="7589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Domain-specific human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703320"/>
            <a:ext cx="3511296" cy="16276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40480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RULESET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0560"/>
            <a:ext cx="3008376" cy="7589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No bypass of protected branch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3703320"/>
            <a:ext cx="3511296" cy="16276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3840480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480560"/>
            <a:ext cx="3008376" cy="7589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Approval before deployment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02752" y="3703320"/>
            <a:ext cx="3511296" cy="162763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3840480"/>
            <a:ext cx="3008376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ROLLBACK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4480560"/>
            <a:ext cx="3008376" cy="7589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Known recovery reference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8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8368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83564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Tooling, MCP, and Execution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663440"/>
            <a:ext cx="107899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0">
                <a:solidFill>
                  <a:srgbClr val="FFFFFF"/>
                </a:solidFill>
                <a:latin typeface="Helvetica Neue"/>
              </a:defRPr>
            </a:pPr>
            <a:r>
              <a:t>Expose narrow capabilities through explicit protocol, authorization, and runtime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Helvetica Neue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A tool boundary has four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423160" cy="23317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0366D6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65960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Helvetica Neue"/>
              </a:defRPr>
            </a:pPr>
            <a:r>
              <a:t>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1920239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  <a:latin typeface="Helvetica Neue"/>
              </a:defRPr>
            </a:pPr>
            <a:r>
              <a:t>Shape, identity, arguments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828800"/>
            <a:ext cx="2423160" cy="23317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201168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6F42C1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965960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Helvetica Neue"/>
              </a:defRPr>
            </a:pPr>
            <a:r>
              <a:t>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7" y="2606040"/>
            <a:ext cx="1920239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  <a:latin typeface="Helvetica Neue"/>
              </a:defRPr>
            </a:pPr>
            <a:r>
              <a:t>Named tool + operation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37376" y="1828800"/>
            <a:ext cx="2423160" cy="23317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201168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735C0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6" y="1965960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Helvetica Neue"/>
              </a:defRPr>
            </a:pPr>
            <a:r>
              <a:t>AUTHORIZATION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2606040"/>
            <a:ext cx="1920239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  <a:latin typeface="Helvetica Neue"/>
              </a:defRPr>
            </a:pPr>
            <a:r>
              <a:t>Allowlists + path scope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8864" y="1828800"/>
            <a:ext cx="2423160" cy="23317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4" y="201168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22863A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38944" y="1965960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Helvetica Neue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2606040"/>
            <a:ext cx="1920239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  <a:latin typeface="Helvetica Neue"/>
              </a:defRPr>
            </a:pPr>
            <a:r>
              <a:t>Decision + reason + provenance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83480"/>
            <a:ext cx="9966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CB2431"/>
                </a:solidFill>
                <a:latin typeface="Helvetica Neue"/>
              </a:defRPr>
            </a:pPr>
            <a:r>
              <a:t>Protocol compatibility ≠ permission to 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Concrete MCP-style request and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5349240" cy="43891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82495"/>
            <a:ext cx="498347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366D6"/>
                </a:solidFill>
                <a:latin typeface="Helvetica Neue"/>
              </a:defRPr>
            </a:pPr>
            <a:r>
              <a:t>REQUEST.JSON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4983479" cy="3858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4292E"/>
                </a:solidFill>
                <a:latin typeface="Roboto Mono"/>
              </a:defRPr>
            </a:pPr>
            <a:r>
              <a:t>{</a:t>
            </a:r>
            <a:br/>
            <a:r>
              <a:t>  "jsonrpc": "2.0",</a:t>
            </a:r>
            <a:br/>
            <a:r>
              <a:t>  "id": "mcp-demo-001",</a:t>
            </a:r>
            <a:br/>
            <a:r>
              <a:t>  "tool": "repository.read",</a:t>
            </a:r>
            <a:br/>
            <a:r>
              <a:t>  "operation": "read_file",</a:t>
            </a:r>
            <a:br/>
            <a:r>
              <a:t>  "path": "examples/project_spec.json",</a:t>
            </a:r>
            <a:br/>
            <a:r>
              <a:t>  "arguments": {"encoding": "utf-8"}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1572768"/>
            <a:ext cx="5230368" cy="43891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82495"/>
            <a:ext cx="4864607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366D6"/>
                </a:solidFill>
                <a:latin typeface="Helvetica Neue"/>
              </a:defRPr>
            </a:pPr>
            <a:r>
              <a:t>DENIED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984248"/>
            <a:ext cx="4864607" cy="3858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4292E"/>
                </a:solidFill>
                <a:latin typeface="Roboto Mono"/>
              </a:defRPr>
            </a:pPr>
            <a:r>
              <a:t>{</a:t>
            </a:r>
            <a:br/>
            <a:r>
              <a:t>  "decision": "deny",</a:t>
            </a:r>
            <a:br/>
            <a:r>
              <a:t>  "reason": "operation is not allowed",</a:t>
            </a:r>
            <a:br/>
            <a:r>
              <a:t>  "tool": "repository.read",</a:t>
            </a:r>
            <a:br/>
            <a:r>
              <a:t>  "operation": "write_file",</a:t>
            </a:r>
            <a:br/>
            <a:r>
              <a:t>  "path": "examples/project_spec.json"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377440"/>
            <a:ext cx="457200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400" b="1">
                <a:solidFill>
                  <a:srgbClr val="24292E"/>
                </a:solidFill>
                <a:latin typeface="Helvetica Neue"/>
              </a:defRPr>
            </a:pPr>
            <a:r>
              <a:t>Choose the execution environment deliberately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24292E"/>
                </a:solidFill>
                <a:latin typeface="Helvetica Neue"/>
              </a:defRPr>
            </a:pPr>
            <a:r>
              <a:t>Codespaces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Interactive, with a human present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Rich repository context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Good for exploration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Scoped CLI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56616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24292E"/>
                </a:solidFill>
                <a:latin typeface="Helvetica Neue"/>
              </a:defRPr>
            </a:pPr>
            <a:r>
              <a:t>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Repeatable and event-driven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Explicit token permissions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Artifacts and logs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Environment approval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8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8368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83564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Multi-Agent Systems and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663440"/>
            <a:ext cx="107899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0">
                <a:solidFill>
                  <a:srgbClr val="FFFFFF"/>
                </a:solidFill>
                <a:latin typeface="Helvetica Neue"/>
              </a:defRPr>
            </a:pPr>
            <a:r>
              <a:t>Coordinate specialist agents through isolated work, observable artifacts, fan-in, and safe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Helvetica Neue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Deterministic multi-agent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2057400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24292E"/>
                </a:solidFill>
                <a:latin typeface="Helvetica Neue"/>
              </a:defRPr>
            </a:pPr>
            <a:r>
              <a:t>ORCHESTRATOR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463040"/>
            <a:ext cx="2331720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SPEC ANALYZER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246120"/>
            <a:ext cx="2331720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735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520440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RISK REVIEWER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2240280"/>
            <a:ext cx="2011680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22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514600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PLAN MERGER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2240280"/>
            <a:ext cx="1737360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CB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02368" y="2514600"/>
            <a:ext cx="1417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VALIDATOR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834640" y="1920240"/>
            <a:ext cx="822960" cy="777240"/>
          </a:xfrm>
          <a:prstGeom prst="line">
            <a:avLst/>
          </a:prstGeom>
          <a:ln w="2540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697480"/>
            <a:ext cx="822960" cy="1005840"/>
          </a:xfrm>
          <a:prstGeom prst="line">
            <a:avLst/>
          </a:prstGeom>
          <a:ln w="2540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1920240"/>
            <a:ext cx="822960" cy="777240"/>
          </a:xfrm>
          <a:prstGeom prst="line">
            <a:avLst/>
          </a:prstGeom>
          <a:ln w="2540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989320" y="2697480"/>
            <a:ext cx="822960" cy="1005840"/>
          </a:xfrm>
          <a:prstGeom prst="line">
            <a:avLst/>
          </a:prstGeom>
          <a:ln w="2540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23960" y="2697480"/>
            <a:ext cx="822960" cy="0"/>
          </a:xfrm>
          <a:prstGeom prst="line">
            <a:avLst/>
          </a:prstGeom>
          <a:ln w="2540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79392" y="461772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6F42C1"/>
                </a:solidFill>
                <a:latin typeface="Helvetica Neue"/>
              </a:defRPr>
            </a:pPr>
            <a:r>
              <a:t>parallel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70332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22863A"/>
                </a:solidFill>
                <a:latin typeface="Helvetica Neue"/>
              </a:defRPr>
            </a:pPr>
            <a:r>
              <a:t>fan-in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703320"/>
            <a:ext cx="1508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CB2431"/>
                </a:solidFill>
                <a:latin typeface="Helvetica Neue"/>
              </a:defRPr>
            </a:pPr>
            <a:r>
              <a:t>quality gate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Concrete parallel specialists and fan-in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7955279" cy="487375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27631"/>
            <a:ext cx="758951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366D6"/>
                </a:solidFill>
                <a:latin typeface="Helvetica Neue"/>
              </a:defRPr>
            </a:pPr>
            <a:r>
              <a:t>.GITHUB/WORKFLOWS/MULTI-AGENT.YML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29384"/>
            <a:ext cx="7589519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4292E"/>
                </a:solidFill>
                <a:latin typeface="Roboto Mono"/>
              </a:defRPr>
            </a:pPr>
            <a:r>
              <a:t>jobs:</a:t>
            </a:r>
            <a:br/>
            <a:r>
              <a:t>  specialists:</a:t>
            </a:r>
            <a:br/>
            <a:r>
              <a:t>    strategy:</a:t>
            </a:r>
            <a:br/>
            <a:r>
              <a:t>      fail-fast: false</a:t>
            </a:r>
            <a:br/>
            <a:r>
              <a:t>      matrix:</a:t>
            </a:r>
            <a:br/>
            <a:r>
              <a:t>        role: [spec-analyzer, risk-reviewer]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name: Run specialist</a:t>
            </a:r>
            <a:br/>
            <a:r>
              <a:t>        run: |</a:t>
            </a:r>
            <a:br/>
            <a:r>
              <a:t>          if [ "${{ matrix.role }}" = "spec-analyzer" ]; then</a:t>
            </a:r>
            <a:br/>
            <a:r>
              <a:t>            python3 scripts/multi_agent/spec_analyzer.py \</a:t>
            </a:r>
            <a:br/>
            <a:r>
              <a:t>              --spec examples/project_spec.json \</a:t>
            </a:r>
            <a:br/>
            <a:r>
              <a:t>              --output artifacts/${{ matrix.role }}/report.json</a:t>
            </a:r>
            <a:br/>
            <a:r>
              <a:t>          else</a:t>
            </a:r>
            <a:br/>
            <a:r>
              <a:t>            python3 scripts/multi_agent/risk_reviewer.py \</a:t>
            </a:r>
            <a:br/>
            <a:r>
              <a:t>              --spec examples/project_spec.json \</a:t>
            </a:r>
            <a:br/>
            <a:r>
              <a:t>              --output artifacts/${{ matrix.role }}/report.json</a:t>
            </a:r>
            <a:br/>
            <a:r>
              <a:t>          fi</a:t>
            </a:r>
            <a:br/>
            <a:br/>
            <a:r>
              <a:t>  fan-in:</a:t>
            </a:r>
            <a:br/>
            <a:r>
              <a:t>    needs: specialists</a:t>
            </a:r>
            <a:br/>
            <a:r>
              <a:t>    concurrency:</a:t>
            </a:r>
            <a:br/>
            <a:r>
              <a:t>      group: multiagent-${{ github.ref }}</a:t>
            </a:r>
            <a:br/>
            <a:r>
              <a:t>    steps:</a:t>
            </a:r>
            <a:br/>
            <a:r>
              <a:t>      - run: python3 scripts/multi_agent/plan_merger.py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7112" y="1600200"/>
            <a:ext cx="2606040" cy="13258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71432" y="1737360"/>
            <a:ext cx="2103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1432" y="2377440"/>
            <a:ext cx="2103120" cy="457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Separate artifact directory per specialist.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7112" y="3154680"/>
            <a:ext cx="2606040" cy="13258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3291840"/>
            <a:ext cx="2103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1432" y="3931920"/>
            <a:ext cx="2103120" cy="457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fail-fast: false preserves independent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7112" y="4709160"/>
            <a:ext cx="2606040" cy="13258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2" y="4846320"/>
            <a:ext cx="2103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SERIALIZATION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5486400"/>
            <a:ext cx="2103120" cy="457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One branch-scoped merge job at a time.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Failures are orchestration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749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SPECIALIST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45720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Preserve other output</a:t>
            </a:r>
            <a:br/>
            <a:r>
              <a:t>Retry bounded times</a:t>
            </a:r>
            <a:br/>
            <a:r>
              <a:t>Escalate with logs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645920"/>
            <a:ext cx="50749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83080"/>
            <a:ext cx="45720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OUTPUT IS STALE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23160"/>
            <a:ext cx="45720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Record input hash</a:t>
            </a:r>
            <a:br/>
            <a:r>
              <a:t>Reject mismatched provenance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94760"/>
            <a:ext cx="50749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45720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AGENTS DISAGREE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45720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Use deterministic arbitration</a:t>
            </a:r>
            <a:br/>
            <a:r>
              <a:t>Route unresolved conflict to human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794760"/>
            <a:ext cx="5074920" cy="1783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931920"/>
            <a:ext cx="45720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MERGE OVERLAPS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572000"/>
            <a:ext cx="457200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Concurrency group</a:t>
            </a:r>
            <a:br/>
            <a:r>
              <a:t>Branch isolation</a:t>
            </a:r>
            <a:br/>
            <a:r>
              <a:t>Idempotent fan-in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Project Pulse: build an AI dream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22863A"/>
                </a:solidFill>
                <a:latin typeface="Helvetica Neue"/>
              </a:defRPr>
            </a:pPr>
            <a:r>
              <a:t>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84831"/>
            <a:ext cx="102412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600" b="1">
                <a:solidFill>
                  <a:srgbClr val="24292E"/>
                </a:solidFill>
                <a:latin typeface="Helvetica Neue"/>
              </a:defRPr>
            </a:pPr>
            <a:r>
              <a:t>Plan, design, build, run, and validate Mona's Project Pulse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108960"/>
            <a:ext cx="5074920" cy="43891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209544"/>
            <a:ext cx="4663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0366D6"/>
                </a:solidFill>
                <a:latin typeface="Roboto Mono"/>
              </a:defRPr>
            </a:pPr>
            <a:r>
              <a:t>docs/agent-team.md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108960"/>
            <a:ext cx="5074920" cy="43891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3209544"/>
            <a:ext cx="4663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0366D6"/>
                </a:solidFill>
                <a:latin typeface="Roboto Mono"/>
              </a:defRPr>
            </a:pPr>
            <a:r>
              <a:t>docs/project-pulse-plan.md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30752"/>
            <a:ext cx="5074920" cy="43891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831335"/>
            <a:ext cx="4663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Roboto Mono"/>
              </a:defRPr>
            </a:pPr>
            <a:r>
              <a:t>app/index.html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3730752"/>
            <a:ext cx="5074920" cy="43891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3831335"/>
            <a:ext cx="4663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Roboto Mono"/>
              </a:defRPr>
            </a:pPr>
            <a:r>
              <a:t>app/styles.css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352544"/>
            <a:ext cx="5074920" cy="43891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453128"/>
            <a:ext cx="4663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Roboto Mono"/>
              </a:defRPr>
            </a:pPr>
            <a:r>
              <a:t>app/project-data.json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4352544"/>
            <a:ext cx="5074920" cy="43891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4453128"/>
            <a:ext cx="4663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Roboto Mono"/>
              </a:defRPr>
            </a:pPr>
            <a:r>
              <a:t>.vscode/launch.json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974336"/>
            <a:ext cx="5074920" cy="43891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074920"/>
            <a:ext cx="4663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Roboto Mono"/>
              </a:defRPr>
            </a:pPr>
            <a:r>
              <a:t>docs/final-handoff.md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The custom agent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83080"/>
            <a:ext cx="2606040" cy="288036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22863A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20240"/>
            <a:ext cx="1783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Helvetica Neue"/>
              </a:defRPr>
            </a:pPr>
            <a:r>
              <a:t>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1031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  <a:latin typeface="Helvetica Neue"/>
              </a:defRPr>
            </a:pPr>
            <a:r>
              <a:t>Coordinates phases</a:t>
            </a:r>
            <a:br/>
            <a:r>
              <a:t>Delegates; does not implement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783080"/>
            <a:ext cx="2606040" cy="288036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6596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6F42C1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1783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Helvetica Neue"/>
              </a:defRPr>
            </a:pPr>
            <a:r>
              <a:t>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560320"/>
            <a:ext cx="21031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  <a:latin typeface="Helvetica Neue"/>
              </a:defRPr>
            </a:pPr>
            <a:r>
              <a:t>Researches + sequences</a:t>
            </a:r>
            <a:br/>
            <a:r>
              <a:t>Defines ownership + dependencies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2606040" cy="288036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735C0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20240"/>
            <a:ext cx="1783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Helvetica Neue"/>
              </a:defRPr>
            </a:pPr>
            <a:r>
              <a:t>DESIGNER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60320"/>
            <a:ext cx="21031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  <a:latin typeface="Helvetica Neue"/>
              </a:defRPr>
            </a:pPr>
            <a:r>
              <a:t>UX + accessibility</a:t>
            </a:r>
            <a:br/>
            <a:r>
              <a:t>Owns visual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783080"/>
            <a:ext cx="2606040" cy="288036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1965960"/>
            <a:ext cx="320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0366D6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1920240"/>
            <a:ext cx="17830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4292E"/>
                </a:solidFill>
                <a:latin typeface="Helvetica Neue"/>
              </a:defRPr>
            </a:pPr>
            <a:r>
              <a:t>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560320"/>
            <a:ext cx="21031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  <a:latin typeface="Helvetica Neue"/>
              </a:defRPr>
            </a:pPr>
            <a:r>
              <a:t>Implements files</a:t>
            </a:r>
            <a:br/>
            <a:r>
              <a:t>Validates runnable 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0">
                <a:solidFill>
                  <a:srgbClr val="586069"/>
                </a:solidFill>
                <a:latin typeface="Helvetica Neue"/>
              </a:defRPr>
            </a:pPr>
            <a:r>
              <a:t>Orchestrator grants explicit file scope; specialists report files touched and validation evidence.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Project Pulse orchestration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28800"/>
            <a:ext cx="1349393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125795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INSPECT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4921" y="1828800"/>
            <a:ext cx="1349393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0641" y="1938528"/>
            <a:ext cx="125795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PLAN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88889" y="2322576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86922" y="1828800"/>
            <a:ext cx="1349393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735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32642" y="1938528"/>
            <a:ext cx="125795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DESIGN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30890" y="2322576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28923" y="1828800"/>
            <a:ext cx="1349393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74643" y="1938528"/>
            <a:ext cx="125795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IMPLEMENT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72891" y="2322576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070924" y="1828800"/>
            <a:ext cx="1349393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22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6644" y="1938528"/>
            <a:ext cx="125795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RUN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14892" y="2322576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712925" y="1828800"/>
            <a:ext cx="1349393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CB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8645" y="1938528"/>
            <a:ext cx="125795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VALIDATE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56893" y="2322576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0354926" y="1828800"/>
            <a:ext cx="1349393" cy="987552"/>
          </a:xfrm>
          <a:prstGeom prst="rect">
            <a:avLst/>
          </a:prstGeom>
          <a:solidFill>
            <a:srgbClr val="F6F8FA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00646" y="1938528"/>
            <a:ext cx="1257953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292E"/>
                </a:solidFill>
                <a:latin typeface="Helvetica Neue"/>
              </a:defRPr>
            </a:pPr>
            <a:r>
              <a:t>HANDOFF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98894" y="2322576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49808" y="3657600"/>
            <a:ext cx="5166360" cy="1600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7" y="3794760"/>
            <a:ext cx="4663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PROMPT CONTRACT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7" y="4434840"/>
            <a:ext cx="4663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Name the desired outcome, exact files, required fields, launch behavior, and validation command.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2784" y="3657600"/>
            <a:ext cx="5166360" cy="1600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3794760"/>
            <a:ext cx="4663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HUMAN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4434840"/>
            <a:ext cx="4663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Inspect the rendered dashboard at narrow and wide viewports and verify a clean browser console.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Project Pulse completion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6766560" cy="443484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82495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366D6"/>
                </a:solidFill>
                <a:latin typeface="Helvetica Neue"/>
              </a:defRPr>
            </a:pPr>
            <a:r>
              <a:t>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6400800" cy="3904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4292E"/>
                </a:solidFill>
                <a:latin typeface="Roboto Mono"/>
              </a:defRPr>
            </a:pPr>
            <a:r>
              <a:t>python3 scripts/project_pulse/validate_exercise.py --root .</a:t>
            </a:r>
            <a:br/>
            <a:br/>
            <a:r>
              <a:t>PASS: project data has at least two projects</a:t>
            </a:r>
            <a:br/>
            <a:r>
              <a:t>PASS: dashboard source fetches project-data.json</a:t>
            </a:r>
            <a:br/>
            <a:r>
              <a:t>PASS: launch configuration is runnable</a:t>
            </a:r>
            <a:br/>
            <a:r>
              <a:t>PASS: launch configuration opens index.html</a:t>
            </a:r>
            <a:br/>
            <a:r>
              <a:t>PASS: final handoff names every agent and deliverable</a:t>
            </a:r>
            <a:br/>
            <a:r>
              <a:t>All Project Pulse validation checks passed.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90688" y="1691640"/>
            <a:ext cx="3611880" cy="1600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8" y="1828800"/>
            <a:ext cx="31089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STATIC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2468880"/>
            <a:ext cx="3108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Files • JSON • source wiring • required fields • launch 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0688" y="3611880"/>
            <a:ext cx="3611880" cy="1600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3749040"/>
            <a:ext cx="31089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HUMAN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4389120"/>
            <a:ext cx="3108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Rendered cards • responsive layout • accessibility • browser errors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8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8368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83564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Memory, State,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663440"/>
            <a:ext cx="107899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0">
                <a:solidFill>
                  <a:srgbClr val="FFFFFF"/>
                </a:solidFill>
                <a:latin typeface="Helvetica Neue"/>
              </a:defRPr>
            </a:pPr>
            <a:r>
              <a:t>Preserve useful continuity with provenance while detecting drift and enforcing explicit success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Helvetica Neue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Three memory horizons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737360"/>
            <a:ext cx="3456432" cy="31546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874519"/>
            <a:ext cx="2953511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SHORT-TERM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514600"/>
            <a:ext cx="2953511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  <a:latin typeface="Helvetica Neue"/>
              </a:defRPr>
            </a:pPr>
            <a:r>
              <a:t>Current task context</a:t>
            </a:r>
            <a:br/>
            <a:r>
              <a:t>Tool outputs</a:t>
            </a:r>
            <a:br/>
            <a:r>
              <a:t>Working hypotheses</a:t>
            </a:r>
            <a:br/>
            <a:r>
              <a:t>Discard or compact quickly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0832" y="1737360"/>
            <a:ext cx="3456432" cy="31546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874519"/>
            <a:ext cx="2953511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LONG-TERM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514600"/>
            <a:ext cx="2953511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  <a:latin typeface="Helvetica Neue"/>
              </a:defRPr>
            </a:pPr>
            <a:r>
              <a:t>Stable conventions</a:t>
            </a:r>
            <a:br/>
            <a:r>
              <a:t>Validated decisions</a:t>
            </a:r>
            <a:br/>
            <a:r>
              <a:t>Reusable preferences</a:t>
            </a:r>
            <a:br/>
            <a:r>
              <a:t>Retention policy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1" y="1737360"/>
            <a:ext cx="3456432" cy="31546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74519"/>
            <a:ext cx="2953511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EXTERNAL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514600"/>
            <a:ext cx="2953511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24292E"/>
                </a:solidFill>
                <a:latin typeface="Helvetica Neue"/>
              </a:defRPr>
            </a:pPr>
            <a:r>
              <a:t>Issues + PRs</a:t>
            </a:r>
            <a:br/>
            <a:r>
              <a:t>Artifacts + logs</a:t>
            </a:r>
            <a:br/>
            <a:r>
              <a:t>JSONL event history</a:t>
            </a:r>
            <a:br/>
            <a:r>
              <a:t>System of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>
                <a:solidFill>
                  <a:srgbClr val="735C0F"/>
                </a:solidFill>
                <a:latin typeface="Helvetica Neue"/>
              </a:defRPr>
            </a:pPr>
            <a:r>
              <a:t>Persist: facts + provenance. Avoid: secrets, unsupported inference, and unbounded transcripts.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Event log → snapshot →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5852160" cy="45262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82495"/>
            <a:ext cx="5486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366D6"/>
                </a:solidFill>
                <a:latin typeface="Helvetica Neue"/>
              </a:defRPr>
            </a:pPr>
            <a:r>
              <a:t>STATE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5486400" cy="3995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4292E"/>
                </a:solidFill>
                <a:latin typeface="Roboto Mono"/>
              </a:defRPr>
            </a:pPr>
            <a:r>
              <a:t>{</a:t>
            </a:r>
            <a:br/>
            <a:r>
              <a:t>  "sequence": 1,</a:t>
            </a:r>
            <a:br/>
            <a:r>
              <a:t>  "event_type": "implementation.accepted",</a:t>
            </a:r>
            <a:br/>
            <a:r>
              <a:t>  "source": "scripts/implement/apply_plan.py",</a:t>
            </a:r>
            <a:br/>
            <a:r>
              <a:t>  "payload": {</a:t>
            </a:r>
            <a:br/>
            <a:r>
              <a:t>    "request_id": "demo-plan-001",</a:t>
            </a:r>
            <a:br/>
            <a:r>
              <a:t>    "status": "ready_for_review",</a:t>
            </a:r>
            <a:br/>
            <a:r>
              <a:t>    "changed_files": ["artifacts/health-report.json"]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839712" y="1828800"/>
            <a:ext cx="877824" cy="868680"/>
          </a:xfrm>
          <a:prstGeom prst="rect">
            <a:avLst/>
          </a:prstGeom>
          <a:solidFill>
            <a:srgbClr val="F6F8FA"/>
          </a:solidFill>
          <a:ln w="12700"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2" y="1938528"/>
            <a:ext cx="78638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24292E"/>
                </a:solidFill>
                <a:latin typeface="Helvetica Neue"/>
              </a:defRPr>
            </a:pPr>
            <a:r>
              <a:t>APPEND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0144" y="1828800"/>
            <a:ext cx="877824" cy="868680"/>
          </a:xfrm>
          <a:prstGeom prst="rect">
            <a:avLst/>
          </a:prstGeom>
          <a:solidFill>
            <a:srgbClr val="F6F8FA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55864" y="1938528"/>
            <a:ext cx="78638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24292E"/>
                </a:solidFill>
                <a:latin typeface="Helvetica Neue"/>
              </a:defRPr>
            </a:pPr>
            <a:r>
              <a:t>ORDER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54112" y="2263140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180576" y="1828800"/>
            <a:ext cx="877824" cy="868680"/>
          </a:xfrm>
          <a:prstGeom prst="rect">
            <a:avLst/>
          </a:prstGeom>
          <a:solidFill>
            <a:srgbClr val="F6F8FA"/>
          </a:solidFill>
          <a:ln w="12700">
            <a:solidFill>
              <a:srgbClr val="735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26296" y="1938528"/>
            <a:ext cx="78638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24292E"/>
                </a:solidFill>
                <a:latin typeface="Helvetica Neue"/>
              </a:defRPr>
            </a:pPr>
            <a:r>
              <a:t>HASH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24543" y="2263140"/>
            <a:ext cx="219457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51008" y="1828800"/>
            <a:ext cx="877824" cy="868680"/>
          </a:xfrm>
          <a:prstGeom prst="rect">
            <a:avLst/>
          </a:prstGeom>
          <a:solidFill>
            <a:srgbClr val="F6F8FA"/>
          </a:solidFill>
          <a:ln w="12700">
            <a:solidFill>
              <a:srgbClr val="22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96728" y="1938528"/>
            <a:ext cx="78638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24292E"/>
                </a:solidFill>
                <a:latin typeface="Helvetica Neue"/>
              </a:defRPr>
            </a:pPr>
            <a:r>
              <a:t>SNAPSHOT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94976" y="2263140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0" y="3200400"/>
            <a:ext cx="4160520" cy="246888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Source identifies producer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Sequence preserves order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Hash detects mutation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Snapshot supports recovery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Retention prevents stale context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377440"/>
            <a:ext cx="457200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400" b="1">
                <a:solidFill>
                  <a:srgbClr val="24292E"/>
                </a:solidFill>
                <a:latin typeface="Helvetica Neue"/>
              </a:defRPr>
            </a:pPr>
            <a:r>
              <a:t>Evaluation signals and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24292E"/>
                </a:solidFill>
                <a:latin typeface="Helvetica Neue"/>
              </a:defRPr>
            </a:pPr>
            <a:r>
              <a:t>Deterministic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Schema parses and files exist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Hashes match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Tests pass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Risk threshold is respected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56616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24292E"/>
                </a:solidFill>
                <a:latin typeface="Helvetica Neue"/>
              </a:defRPr>
            </a:pPr>
            <a:r>
              <a:t>Human judgment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Design quality and user value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Requirement ambiguity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Acceptable tradeoffs</a:t>
            </a:r>
          </a:p>
          <a:p>
            <a:pPr marL="201168" indent="-164592">
              <a:spcAft>
                <a:spcPts val="600"/>
              </a:spcAft>
              <a:defRPr sz="18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Novel failure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8C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8368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Helvetica Neue"/>
              </a:defRPr>
            </a:pPr>
            <a: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83564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Governance, Guardrails, and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663440"/>
            <a:ext cx="107899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300" b="0">
                <a:solidFill>
                  <a:srgbClr val="FFFFFF"/>
                </a:solidFill>
                <a:latin typeface="Helvetica Neue"/>
              </a:defRPr>
            </a:pPr>
            <a:r>
              <a:t>Scale autonomy according to risk, preserve human control, and make every consequential action reversible and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Helvetica Neue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Risk-based autonomy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10332720" cy="7498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55063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>
                <a:solidFill>
                  <a:srgbClr val="22863A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55063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24292E"/>
                </a:solidFill>
                <a:latin typeface="Helvetica Neue"/>
              </a:defRPr>
            </a:pPr>
            <a:r>
              <a:t>READ + SUMMARIZE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655063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600" b="1">
                <a:solidFill>
                  <a:srgbClr val="22863A"/>
                </a:solidFill>
                <a:latin typeface="Helvetica Neue"/>
              </a:defRPr>
            </a:pPr>
            <a:r>
              <a:t>Auto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0332720" cy="7498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946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>
                <a:solidFill>
                  <a:srgbClr val="0366D6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69464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24292E"/>
                </a:solidFill>
                <a:latin typeface="Helvetica Neue"/>
              </a:defRPr>
            </a:pPr>
            <a:r>
              <a:t>PROPOSE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569464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600" b="1">
                <a:solidFill>
                  <a:srgbClr val="0366D6"/>
                </a:solidFill>
                <a:latin typeface="Helvetica Neue"/>
              </a:defRPr>
            </a:pPr>
            <a:r>
              <a:t>Auto + validate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337560"/>
            <a:ext cx="10332720" cy="7498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8386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>
                <a:solidFill>
                  <a:srgbClr val="6F42C1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83864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24292E"/>
                </a:solidFill>
                <a:latin typeface="Helvetica Neue"/>
              </a:defRPr>
            </a:pPr>
            <a:r>
              <a:t>OPEN PULL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483864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600" b="1">
                <a:solidFill>
                  <a:srgbClr val="6F42C1"/>
                </a:solidFill>
                <a:latin typeface="Helvetica Neue"/>
              </a:defRPr>
            </a:pPr>
            <a:r>
              <a:t>Review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251960"/>
            <a:ext cx="10332720" cy="7498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9826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>
                <a:solidFill>
                  <a:srgbClr val="735C0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398264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24292E"/>
                </a:solidFill>
                <a:latin typeface="Helvetica Neue"/>
              </a:defRPr>
            </a:pPr>
            <a:r>
              <a:t>DEPLOY / MUTATE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398264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600" b="1">
                <a:solidFill>
                  <a:srgbClr val="735C0F"/>
                </a:solidFill>
                <a:latin typeface="Helvetica Neue"/>
              </a:defRPr>
            </a:pPr>
            <a:r>
              <a:t>Environment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166360"/>
            <a:ext cx="10332720" cy="7498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12664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>
                <a:solidFill>
                  <a:srgbClr val="CB2431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312664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1">
                <a:solidFill>
                  <a:srgbClr val="24292E"/>
                </a:solidFill>
                <a:latin typeface="Helvetica Neue"/>
              </a:defRPr>
            </a:pPr>
            <a:r>
              <a:t>IRREVERSIBLE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312664"/>
            <a:ext cx="3840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600" b="1">
                <a:solidFill>
                  <a:srgbClr val="CB2431"/>
                </a:solidFill>
                <a:latin typeface="Helvetica Neue"/>
              </a:defRPr>
            </a:pPr>
            <a:r>
              <a:t>Deny or exceptional process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Guardrail → approval → audit →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35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1933041" cy="960120"/>
          </a:xfrm>
          <a:prstGeom prst="rect">
            <a:avLst/>
          </a:prstGeom>
          <a:solidFill>
            <a:srgbClr val="F6F8FA"/>
          </a:solidFill>
          <a:ln w="12700"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01368"/>
            <a:ext cx="184160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11449" y="1691640"/>
            <a:ext cx="1933041" cy="960120"/>
          </a:xfrm>
          <a:prstGeom prst="rect">
            <a:avLst/>
          </a:prstGeom>
          <a:solidFill>
            <a:srgbClr val="F6F8FA"/>
          </a:solidFill>
          <a:ln w="12700">
            <a:solidFill>
              <a:srgbClr val="CB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57169" y="1801368"/>
            <a:ext cx="184160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POLICY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5417" y="2171700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37099" y="1691640"/>
            <a:ext cx="1933041" cy="960120"/>
          </a:xfrm>
          <a:prstGeom prst="rect">
            <a:avLst/>
          </a:prstGeom>
          <a:solidFill>
            <a:srgbClr val="F6F8FA"/>
          </a:solidFill>
          <a:ln w="12700">
            <a:solidFill>
              <a:srgbClr val="735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2819" y="1801368"/>
            <a:ext cx="184160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APPROVAL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81067" y="2171700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62748" y="1691640"/>
            <a:ext cx="1933041" cy="960120"/>
          </a:xfrm>
          <a:prstGeom prst="rect">
            <a:avLst/>
          </a:prstGeom>
          <a:solidFill>
            <a:srgbClr val="F6F8FA"/>
          </a:solidFill>
          <a:ln w="12700">
            <a:solidFill>
              <a:srgbClr val="228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8468" y="1801368"/>
            <a:ext cx="184160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AUDIT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06716" y="2171700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588398" y="1691640"/>
            <a:ext cx="1933041" cy="960120"/>
          </a:xfrm>
          <a:prstGeom prst="rect">
            <a:avLst/>
          </a:prstGeom>
          <a:solidFill>
            <a:srgbClr val="F6F8FA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34118" y="1801368"/>
            <a:ext cx="1841601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24292E"/>
                </a:solidFill>
                <a:latin typeface="Helvetica Neue"/>
              </a:defRPr>
            </a:pPr>
            <a:r>
              <a:t>ROLLBACK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32366" y="2171700"/>
            <a:ext cx="219456" cy="0"/>
          </a:xfrm>
          <a:prstGeom prst="line">
            <a:avLst/>
          </a:prstGeom>
          <a:ln w="1905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3383280"/>
            <a:ext cx="5257800" cy="2743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493008"/>
            <a:ext cx="4892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0366D6"/>
                </a:solidFill>
                <a:latin typeface="Helvetica Neue"/>
              </a:defRPr>
            </a:pPr>
            <a:r>
              <a:t>GOVERNANCE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94760"/>
            <a:ext cx="4892040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4292E"/>
                </a:solidFill>
                <a:latin typeface="Roboto Mono"/>
              </a:defRPr>
            </a:pPr>
            <a:r>
              <a:t>{</a:t>
            </a:r>
            <a:br/>
            <a:r>
              <a:t>  "requested_action": "open_pull_request",</a:t>
            </a:r>
            <a:br/>
            <a:r>
              <a:t>  "permissions": [</a:t>
            </a:r>
            <a:br/>
            <a:r>
              <a:t>    "contents:read",</a:t>
            </a:r>
            <a:br/>
            <a:r>
              <a:t>    "pull-requests:write"</a:t>
            </a:r>
            <a:br/>
            <a:r>
              <a:t>  ],</a:t>
            </a:r>
            <a:br/>
            <a:r>
              <a:t>  "protected_branch": true,</a:t>
            </a:r>
            <a:br/>
            <a:r>
              <a:t>  "approval": {"required": true, "present": false}</a:t>
            </a:r>
            <a:br/>
            <a:r>
              <a:t>}</a:t>
            </a:r>
            <a:br/>
            <a:br/>
            <a:r>
              <a:t>→ decision: "approval_required"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83280"/>
            <a:ext cx="4480560" cy="2377440"/>
          </a:xfrm>
          <a:prstGeom prst="rect">
            <a:avLst/>
          </a:prstGeom>
          <a:noFill/>
        </p:spPr>
        <p:txBody>
          <a:bodyPr wrap="square" lIns="109728" rIns="54864">
            <a:spAutoFit/>
          </a:bodyPr>
          <a:lstStyle/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Narrow required permissions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Human gate for protected branch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Run ID + actor + policy version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Changed paths recorded</a:t>
            </a:r>
          </a:p>
          <a:p>
            <a:pPr marL="201168" indent="-164592">
              <a:spcAft>
                <a:spcPts val="1000"/>
              </a:spcAft>
              <a:defRPr sz="1700">
                <a:solidFill>
                  <a:srgbClr val="24292E"/>
                </a:solidFill>
                <a:latin typeface="Helvetica Neue"/>
              </a:defRPr>
              <a:buChar char="•"/>
            </a:pPr>
            <a:r>
              <a:t>Rollback reference prepared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Capstone: prove the whole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08760"/>
            <a:ext cx="352044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45919"/>
            <a:ext cx="3017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AGENT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86000"/>
            <a:ext cx="3017520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Inspectable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7408" y="1508760"/>
            <a:ext cx="352044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645919"/>
            <a:ext cx="3017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TOOL + PERMISSION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286000"/>
            <a:ext cx="3017520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Inspectable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7888" y="1508760"/>
            <a:ext cx="352044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2208" y="1645919"/>
            <a:ext cx="3017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VERSIONED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2286000"/>
            <a:ext cx="3017520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Inspectable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352044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154679"/>
            <a:ext cx="3017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TWO SPECIALIST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794760"/>
            <a:ext cx="3017520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Inspectable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3017520"/>
            <a:ext cx="352044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3154679"/>
            <a:ext cx="3017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MERGED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794760"/>
            <a:ext cx="3017520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Inspectable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3017520"/>
            <a:ext cx="352044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3154679"/>
            <a:ext cx="3017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STATE SNAPSHOT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794760"/>
            <a:ext cx="3017520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Inspectable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526279"/>
            <a:ext cx="352044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663440"/>
            <a:ext cx="3017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EVALUATION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303520"/>
            <a:ext cx="3017520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Inspectable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4526279"/>
            <a:ext cx="352044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4663440"/>
            <a:ext cx="3017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APPROVAL + AUDIT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5303520"/>
            <a:ext cx="3017520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Inspectable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4526279"/>
            <a:ext cx="352044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4663440"/>
            <a:ext cx="3017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ROLLBACK PROCEDURE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5303520"/>
            <a:ext cx="3017520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4292E"/>
                </a:solidFill>
                <a:latin typeface="Helvetica Neue"/>
              </a:defRPr>
            </a:pPr>
            <a:r>
              <a:t>Inspectable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080760"/>
            <a:ext cx="9966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>
                <a:solidFill>
                  <a:srgbClr val="24292E"/>
                </a:solidFill>
                <a:latin typeface="Helvetica Neue"/>
              </a:defRPr>
            </a:pPr>
            <a:r>
              <a:t>Rubric: bounded • reproducible • observable • reversible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3200" b="1">
                <a:solidFill>
                  <a:srgbClr val="24292E"/>
                </a:solidFill>
                <a:latin typeface="Helvetica Neue"/>
              </a:defRPr>
            </a:pPr>
            <a:r>
              <a:t>Use the workshop as a GH-600 study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86069"/>
                </a:solidFill>
                <a:latin typeface="Helvetica Neue"/>
              </a:defRPr>
            </a:pPr>
            <a:r>
              <a:t>37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81912"/>
            <a:ext cx="521208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764792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0366D6"/>
                </a:solidFill>
                <a:latin typeface="Helvetica Neue"/>
              </a:defRPr>
            </a:pPr>
            <a:r>
              <a:t>Architecture + SDLC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21991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Helvetica Neue"/>
              </a:defRPr>
            </a:pPr>
            <a:r>
              <a:t>Agent contract + plan handoff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6364224" y="1581912"/>
            <a:ext cx="521208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2824" y="1764792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735C0F"/>
                </a:solidFill>
                <a:latin typeface="Helvetica Neue"/>
              </a:defRPr>
            </a:pPr>
            <a:r>
              <a:t>Tool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2824" y="2221991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Helvetica Neue"/>
              </a:defRPr>
            </a:pPr>
            <a:r>
              <a:t>MCP boundary + execution environments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154680"/>
            <a:ext cx="521208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337560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6F42C1"/>
                </a:solidFill>
                <a:latin typeface="Helvetica Neue"/>
              </a:defRPr>
            </a:pPr>
            <a:r>
              <a:t>Memory +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794760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Helvetica Neue"/>
              </a:defRPr>
            </a:pPr>
            <a:r>
              <a:t>Event log + snapshot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3154680"/>
            <a:ext cx="521208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3337560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2863A"/>
                </a:solidFill>
                <a:latin typeface="Helvetica Neue"/>
              </a:defRPr>
            </a:pPr>
            <a:r>
              <a:t>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3794760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Helvetica Neue"/>
              </a:defRPr>
            </a:pPr>
            <a:r>
              <a:t>Quality gates + failure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727448"/>
            <a:ext cx="521208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910328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0366D6"/>
                </a:solidFill>
                <a:latin typeface="Helvetica Neue"/>
              </a:defRPr>
            </a:pPr>
            <a:r>
              <a:t>Multi-agent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367528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Helvetica Neue"/>
              </a:defRPr>
            </a:pPr>
            <a:r>
              <a:t>Fan-in workflow + Project Pulse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4224" y="4727448"/>
            <a:ext cx="5212080" cy="1207008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4910328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CB2431"/>
                </a:solidFill>
                <a:latin typeface="Helvetica Neue"/>
              </a:defRPr>
            </a:pPr>
            <a:r>
              <a:t>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5367528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86069"/>
                </a:solidFill>
                <a:latin typeface="Helvetica Neue"/>
              </a:defRPr>
            </a:pPr>
            <a:r>
              <a:t>Approval + audit + rollback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608076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0366D6"/>
                </a:solidFill>
                <a:latin typeface="Roboto Mono"/>
              </a:defRPr>
            </a:pPr>
            <a:r>
              <a:t>docs/source-coverage.md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ithub-titl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ithub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51560"/>
            <a:ext cx="301752" cy="2891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1042415"/>
            <a:ext cx="201168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Roboto Mono"/>
              </a:defRPr>
            </a:pPr>
            <a:r>
              <a:t>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42416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Build agents you can</a:t>
            </a:r>
            <a:br/>
            <a:r>
              <a:t>inspect, stop, and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9966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Helvetica Neue"/>
              </a:defRPr>
            </a:pPr>
            <a:r>
              <a:t>Evidence over autonomy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9669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Helvetica Neue"/>
              </a:defRPr>
            </a:pPr>
            <a:r>
              <a:t>What is one action you would never allow an agent to perform without human approval?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Roboto Mono"/>
              </a:defRPr>
            </a:pPr>
            <a:r>
              <a:t>Run the labs  •  inspect the artifacts  •  practice the recovery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657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Helvetica Neue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tHub Developer Training">
  <a:themeElements>
    <a:clrScheme name="Office">
      <a:dk1>
        <a:srgbClr val="24292E"/>
      </a:dk1>
      <a:lt1>
        <a:srgbClr val="FFFFFF"/>
      </a:lt1>
      <a:dk2>
        <a:srgbClr val="586069"/>
      </a:dk2>
      <a:lt2>
        <a:srgbClr val="F6F8FA"/>
      </a:lt2>
      <a:accent1>
        <a:srgbClr val="0366D6"/>
      </a:accent1>
      <a:accent2>
        <a:srgbClr val="00A89D"/>
      </a:accent2>
      <a:accent3>
        <a:srgbClr val="22863A"/>
      </a:accent3>
      <a:accent4>
        <a:srgbClr val="735C0F"/>
      </a:accent4>
      <a:accent5>
        <a:srgbClr val="CB2431"/>
      </a:accent5>
      <a:accent6>
        <a:srgbClr val="6F42C1"/>
      </a:accent6>
      <a:hlink>
        <a:srgbClr val="0366D6"/>
      </a:hlink>
      <a:folHlink>
        <a:srgbClr val="6F42C1"/>
      </a:folHlink>
    </a:clrScheme>
    <a:fontScheme name="Office">
      <a:majorFont>
        <a:latin typeface="Helvetica Neu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Certified: Agentic AI Developer Workshop</dc:title>
  <dc:subject>Instructor-ready workshop deck aligned to GH-600</dc:subject>
  <dc:creator>Agentic SDLC Workshop</dc:creator>
  <cp:keywords>GitHub, Copilot, agentic AI, GH-600, SDLC, MCP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